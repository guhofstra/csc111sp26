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25"/>
  </p:notesMasterIdLst>
  <p:handoutMasterIdLst>
    <p:handoutMasterId r:id="rId26"/>
  </p:handoutMasterIdLst>
  <p:sldIdLst>
    <p:sldId id="256" r:id="rId2"/>
    <p:sldId id="354" r:id="rId3"/>
    <p:sldId id="355" r:id="rId4"/>
    <p:sldId id="364" r:id="rId5"/>
    <p:sldId id="365" r:id="rId6"/>
    <p:sldId id="366" r:id="rId7"/>
    <p:sldId id="367" r:id="rId8"/>
    <p:sldId id="368" r:id="rId9"/>
    <p:sldId id="369" r:id="rId10"/>
    <p:sldId id="345" r:id="rId11"/>
    <p:sldId id="347" r:id="rId12"/>
    <p:sldId id="350" r:id="rId13"/>
    <p:sldId id="351" r:id="rId14"/>
    <p:sldId id="376" r:id="rId15"/>
    <p:sldId id="377" r:id="rId16"/>
    <p:sldId id="371" r:id="rId17"/>
    <p:sldId id="379" r:id="rId18"/>
    <p:sldId id="378" r:id="rId19"/>
    <p:sldId id="380" r:id="rId20"/>
    <p:sldId id="381" r:id="rId21"/>
    <p:sldId id="382" r:id="rId22"/>
    <p:sldId id="374" r:id="rId23"/>
    <p:sldId id="375" r:id="rId2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FF"/>
    <a:srgbClr val="FF40FF"/>
    <a:srgbClr val="0066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4E9662D-2748-4411-A048-4BC33D32B5DB}" v="1" dt="2026-02-05T15:08:07.217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195"/>
    <p:restoredTop sz="96331" autoAdjust="0"/>
  </p:normalViewPr>
  <p:slideViewPr>
    <p:cSldViewPr>
      <p:cViewPr varScale="1">
        <p:scale>
          <a:sx n="78" d="100"/>
          <a:sy n="78" d="100"/>
        </p:scale>
        <p:origin x="826" y="7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00" d="100"/>
        <a:sy n="100" d="100"/>
      </p:scale>
      <p:origin x="0" y="-1315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handoutMaster" Target="handoutMasters/handout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microsoft.com/office/2015/10/relationships/revisionInfo" Target="revisionInfo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Zonghua Gu" userId="9a7e1853e1951ef5" providerId="LiveId" clId="{CF1FAA12-072C-4ED5-BA76-0FFFAEFDB88A}"/>
    <pc:docChg chg="modSld">
      <pc:chgData name="Zonghua Gu" userId="9a7e1853e1951ef5" providerId="LiveId" clId="{CF1FAA12-072C-4ED5-BA76-0FFFAEFDB88A}" dt="2026-02-05T15:08:07.216" v="2"/>
      <pc:docMkLst>
        <pc:docMk/>
      </pc:docMkLst>
      <pc:sldChg chg="modSp mod">
        <pc:chgData name="Zonghua Gu" userId="9a7e1853e1951ef5" providerId="LiveId" clId="{CF1FAA12-072C-4ED5-BA76-0FFFAEFDB88A}" dt="2026-02-05T15:04:40.861" v="0" actId="108"/>
        <pc:sldMkLst>
          <pc:docMk/>
          <pc:sldMk cId="3239216658" sldId="365"/>
        </pc:sldMkLst>
        <pc:spChg chg="mod">
          <ac:chgData name="Zonghua Gu" userId="9a7e1853e1951ef5" providerId="LiveId" clId="{CF1FAA12-072C-4ED5-BA76-0FFFAEFDB88A}" dt="2026-02-05T15:04:40.861" v="0" actId="108"/>
          <ac:spMkLst>
            <pc:docMk/>
            <pc:sldMk cId="3239216658" sldId="365"/>
            <ac:spMk id="3" creationId="{00000000-0000-0000-0000-000000000000}"/>
          </ac:spMkLst>
        </pc:spChg>
      </pc:sldChg>
      <pc:sldChg chg="modSp mod modAnim">
        <pc:chgData name="Zonghua Gu" userId="9a7e1853e1951ef5" providerId="LiveId" clId="{CF1FAA12-072C-4ED5-BA76-0FFFAEFDB88A}" dt="2026-02-05T15:08:07.216" v="2"/>
        <pc:sldMkLst>
          <pc:docMk/>
          <pc:sldMk cId="3413348423" sldId="367"/>
        </pc:sldMkLst>
        <pc:graphicFrameChg chg="mod">
          <ac:chgData name="Zonghua Gu" userId="9a7e1853e1951ef5" providerId="LiveId" clId="{CF1FAA12-072C-4ED5-BA76-0FFFAEFDB88A}" dt="2026-02-05T15:07:44.409" v="1" actId="1076"/>
          <ac:graphicFrameMkLst>
            <pc:docMk/>
            <pc:sldMk cId="3413348423" sldId="367"/>
            <ac:graphicFrameMk id="4" creationId="{E675A2F8-1917-E32A-1D6F-9612FFD62311}"/>
          </ac:graphicFrameMkLst>
        </pc:graphicFrame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D4F56A7-3CDE-194F-B9AF-D598FBBF1989}" type="datetimeFigureOut">
              <a:rPr lang="en-US" smtClean="0"/>
              <a:pPr/>
              <a:t>2/5/2026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E1097CB-F954-3545-B5D0-357D0C1748E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6640663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E52AD58-60CE-E948-9CBA-0BD7030FC28E}" type="datetimeFigureOut">
              <a:rPr lang="en-US" smtClean="0"/>
              <a:pPr/>
              <a:t>2/5/2026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624DF53-3DD3-9F45-9E7E-472B96F1AB81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1763880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If they represent signed integers, the latter is greater </a:t>
            </a:r>
          </a:p>
          <a:p>
            <a:pPr marL="0" indent="0">
              <a:buNone/>
            </a:pPr>
            <a:r>
              <a:rPr lang="en-US" dirty="0"/>
              <a:t>   (</a:t>
            </a:r>
            <a:r>
              <a:rPr lang="en-US" altLang="zh-CN" dirty="0"/>
              <a:t>-</a:t>
            </a:r>
            <a:r>
              <a:rPr lang="en-US" b="1" dirty="0">
                <a:latin typeface="Consolas" panose="020B0609020204030204" pitchFamily="49" charset="0"/>
                <a:cs typeface="Consolas" panose="020B0609020204030204" pitchFamily="49" charset="0"/>
              </a:rPr>
              <a:t>1 &lt; 1</a:t>
            </a:r>
            <a:r>
              <a:rPr lang="en-US" dirty="0"/>
              <a:t>).</a:t>
            </a:r>
          </a:p>
          <a:p>
            <a:r>
              <a:rPr lang="en-US" dirty="0"/>
              <a:t>If they represent unsigned integers, the former is greater</a:t>
            </a:r>
          </a:p>
          <a:p>
            <a:pPr marL="0" indent="0">
              <a:buNone/>
            </a:pPr>
            <a:r>
              <a:rPr lang="en-US" dirty="0"/>
              <a:t>   (2</a:t>
            </a:r>
            <a:r>
              <a:rPr lang="en-US" baseline="30000" dirty="0"/>
              <a:t>32</a:t>
            </a:r>
            <a:r>
              <a:rPr lang="en-US" dirty="0"/>
              <a:t>-1 </a:t>
            </a:r>
            <a:r>
              <a:rPr lang="en-US" b="1" dirty="0">
                <a:latin typeface="Consolas" panose="020B0609020204030204" pitchFamily="49" charset="0"/>
                <a:cs typeface="Consolas" panose="020B0609020204030204" pitchFamily="49" charset="0"/>
              </a:rPr>
              <a:t>&gt; 1</a:t>
            </a:r>
            <a:r>
              <a:rPr lang="en-US" dirty="0"/>
              <a:t>).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D71AD5F-E36F-46B9-A99B-7B025244359D}" type="slidenum">
              <a:rPr lang="en-US" smtClean="0"/>
              <a:pPr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039002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2286000" y="514350"/>
            <a:ext cx="4572000" cy="257175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F97FDFF-7B9F-7D4D-BFC0-AAD1F3D3D3CB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77589040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2286000" y="514350"/>
            <a:ext cx="4572000" cy="257175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F97FDFF-7B9F-7D4D-BFC0-AAD1F3D3D3CB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11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2363528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2286000" y="514350"/>
            <a:ext cx="4572000" cy="257175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F97FDFF-7B9F-7D4D-BFC0-AAD1F3D3D3CB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12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11758610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2286000" y="514350"/>
            <a:ext cx="4572000" cy="257175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F97FDFF-7B9F-7D4D-BFC0-AAD1F3D3D3CB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13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0407107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624DF53-3DD3-9F45-9E7E-472B96F1AB81}" type="slidenum">
              <a:rPr lang="en-US" smtClean="0"/>
              <a:pPr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604798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1625600" y="3886200"/>
            <a:ext cx="9144000" cy="990600"/>
          </a:xfrm>
        </p:spPr>
        <p:txBody>
          <a:bodyPr anchor="t" anchorCtr="0"/>
          <a:lstStyle>
            <a:lvl1pPr algn="r">
              <a:defRPr sz="3200">
                <a:solidFill>
                  <a:schemeClr val="tx1"/>
                </a:solidFill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9" name="Subtitle 8"/>
          <p:cNvSpPr>
            <a:spLocks noGrp="1"/>
          </p:cNvSpPr>
          <p:nvPr>
            <p:ph type="subTitle" idx="1"/>
          </p:nvPr>
        </p:nvSpPr>
        <p:spPr>
          <a:xfrm>
            <a:off x="1625600" y="5124450"/>
            <a:ext cx="9144000" cy="533400"/>
          </a:xfrm>
        </p:spPr>
        <p:txBody>
          <a:bodyPr/>
          <a:lstStyle>
            <a:lvl1pPr marL="0" indent="0" algn="r">
              <a:buNone/>
              <a:defRPr sz="20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n-US"/>
              <a:t>Click to edit Master subtitle style</a:t>
            </a:r>
          </a:p>
        </p:txBody>
      </p:sp>
      <p:sp>
        <p:nvSpPr>
          <p:cNvPr id="28" name="Date Placeholder 27"/>
          <p:cNvSpPr>
            <a:spLocks noGrp="1"/>
          </p:cNvSpPr>
          <p:nvPr>
            <p:ph type="dt" sz="half" idx="10"/>
          </p:nvPr>
        </p:nvSpPr>
        <p:spPr>
          <a:xfrm>
            <a:off x="8534400" y="6355080"/>
            <a:ext cx="3048000" cy="365760"/>
          </a:xfrm>
        </p:spPr>
        <p:txBody>
          <a:bodyPr/>
          <a:lstStyle>
            <a:lvl1pPr>
              <a:defRPr sz="1400"/>
            </a:lvl1pPr>
          </a:lstStyle>
          <a:p>
            <a:pPr eaLnBrk="1" latinLnBrk="0" hangingPunct="1"/>
            <a:fld id="{8E8B2B42-CBC2-7D4E-BA50-0E7F29B4DAAB}" type="datetime1">
              <a:rPr lang="en-US" smtClean="0"/>
              <a:t>2/5/2026</a:t>
            </a:fld>
            <a:endParaRPr lang="en-US" sz="1600" dirty="0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1"/>
          </p:nvPr>
        </p:nvSpPr>
        <p:spPr>
          <a:xfrm>
            <a:off x="3864864" y="6355080"/>
            <a:ext cx="4632960" cy="365760"/>
          </a:xfrm>
        </p:spPr>
        <p:txBody>
          <a:bodyPr/>
          <a:lstStyle/>
          <a:p>
            <a:endParaRPr kumimoji="0" lang="en-US" dirty="0"/>
          </a:p>
        </p:txBody>
      </p:sp>
      <p:sp>
        <p:nvSpPr>
          <p:cNvPr id="29" name="Slide Number Placeholder 28"/>
          <p:cNvSpPr>
            <a:spLocks noGrp="1"/>
          </p:cNvSpPr>
          <p:nvPr>
            <p:ph type="sldNum" sz="quarter" idx="12"/>
          </p:nvPr>
        </p:nvSpPr>
        <p:spPr>
          <a:xfrm>
            <a:off x="1621536" y="6355080"/>
            <a:ext cx="1625600" cy="365760"/>
          </a:xfrm>
        </p:spPr>
        <p:txBody>
          <a:bodyPr/>
          <a:lstStyle/>
          <a:p>
            <a:fld id="{EA7C8D44-3667-46F6-9772-CC52308E2A7F}" type="slidenum">
              <a:rPr kumimoji="0" lang="en-US" smtClean="0"/>
              <a:pPr/>
              <a:t>‹#›</a:t>
            </a:fld>
            <a:endParaRPr kumimoji="0" lang="en-US" dirty="0"/>
          </a:p>
        </p:txBody>
      </p:sp>
      <p:sp>
        <p:nvSpPr>
          <p:cNvPr id="21" name="Rectangle 20"/>
          <p:cNvSpPr/>
          <p:nvPr/>
        </p:nvSpPr>
        <p:spPr>
          <a:xfrm>
            <a:off x="1206500" y="3648075"/>
            <a:ext cx="9753600" cy="1280160"/>
          </a:xfrm>
          <a:prstGeom prst="rect">
            <a:avLst/>
          </a:prstGeom>
          <a:noFill/>
          <a:ln w="6350" cap="rnd" cmpd="sng" algn="ctr">
            <a:solidFill>
              <a:schemeClr val="accent1"/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  <p:sp>
        <p:nvSpPr>
          <p:cNvPr id="33" name="Rectangle 32"/>
          <p:cNvSpPr/>
          <p:nvPr/>
        </p:nvSpPr>
        <p:spPr>
          <a:xfrm>
            <a:off x="1219200" y="5048250"/>
            <a:ext cx="9753600" cy="685800"/>
          </a:xfrm>
          <a:prstGeom prst="rect">
            <a:avLst/>
          </a:prstGeom>
          <a:noFill/>
          <a:ln w="6350" cap="rnd" cmpd="sng" algn="ctr">
            <a:solidFill>
              <a:schemeClr val="accent2"/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  <p:sp>
        <p:nvSpPr>
          <p:cNvPr id="22" name="Rectangle 21"/>
          <p:cNvSpPr/>
          <p:nvPr/>
        </p:nvSpPr>
        <p:spPr>
          <a:xfrm>
            <a:off x="1206500" y="3648075"/>
            <a:ext cx="304800" cy="1280160"/>
          </a:xfrm>
          <a:prstGeom prst="rect">
            <a:avLst/>
          </a:prstGeom>
          <a:solidFill>
            <a:schemeClr val="accent1"/>
          </a:solidFill>
          <a:ln w="635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  <p:sp>
        <p:nvSpPr>
          <p:cNvPr id="32" name="Rectangle 31"/>
          <p:cNvSpPr/>
          <p:nvPr/>
        </p:nvSpPr>
        <p:spPr>
          <a:xfrm>
            <a:off x="1219200" y="5048250"/>
            <a:ext cx="304800" cy="685800"/>
          </a:xfrm>
          <a:prstGeom prst="rect">
            <a:avLst/>
          </a:prstGeom>
          <a:solidFill>
            <a:schemeClr val="accent2"/>
          </a:solidFill>
          <a:ln w="635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eaLnBrk="1" latinLnBrk="0" hangingPunct="1"/>
            <a:fld id="{A9E6F060-20EB-3246-9088-08BF5F1271DE}" type="datetime1">
              <a:rPr lang="en-US" smtClean="0"/>
              <a:t>2/5/2026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‹#›</a:t>
            </a:fld>
            <a:endParaRPr kumimoji="0" lang="en-US" dirty="0"/>
          </a:p>
        </p:txBody>
      </p:sp>
      <p:sp>
        <p:nvSpPr>
          <p:cNvPr id="8" name="Content Placeholder 7"/>
          <p:cNvSpPr>
            <a:spLocks noGrp="1"/>
          </p:cNvSpPr>
          <p:nvPr>
            <p:ph sz="quarter" idx="1"/>
          </p:nvPr>
        </p:nvSpPr>
        <p:spPr>
          <a:xfrm>
            <a:off x="609600" y="1219200"/>
            <a:ext cx="10972800" cy="493776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25600" y="2971800"/>
            <a:ext cx="9144000" cy="1066800"/>
          </a:xfrm>
        </p:spPr>
        <p:txBody>
          <a:bodyPr anchor="t" anchorCtr="0"/>
          <a:lstStyle>
            <a:lvl1pPr algn="r">
              <a:buNone/>
              <a:defRPr sz="3200" b="0" cap="none" baseline="0"/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27200" y="4267200"/>
            <a:ext cx="9042400" cy="1143000"/>
          </a:xfrm>
        </p:spPr>
        <p:txBody>
          <a:bodyPr anchor="t" anchorCtr="0"/>
          <a:lstStyle>
            <a:lvl1pPr marL="0" indent="0" algn="r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534400" y="6355080"/>
            <a:ext cx="3048000" cy="365760"/>
          </a:xfrm>
        </p:spPr>
        <p:txBody>
          <a:bodyPr/>
          <a:lstStyle/>
          <a:p>
            <a:pPr eaLnBrk="1" latinLnBrk="0" hangingPunct="1"/>
            <a:fld id="{34C82E41-DA7E-CA4C-823B-C759BEA16CE8}" type="datetime1">
              <a:rPr lang="en-US" smtClean="0"/>
              <a:t>2/5/2026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864864" y="6355080"/>
            <a:ext cx="4632960" cy="365760"/>
          </a:xfrm>
        </p:spPr>
        <p:txBody>
          <a:bodyPr/>
          <a:lstStyle/>
          <a:p>
            <a:endParaRPr kumimoji="0"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426464" y="6355080"/>
            <a:ext cx="2027936" cy="365760"/>
          </a:xfrm>
        </p:spPr>
        <p:txBody>
          <a:bodyPr/>
          <a:lstStyle/>
          <a:p>
            <a:fld id="{EA7C8D44-3667-46F6-9772-CC52308E2A7F}" type="slidenum">
              <a:rPr kumimoji="0" lang="en-US" smtClean="0"/>
              <a:pPr/>
              <a:t>‹#›</a:t>
            </a:fld>
            <a:endParaRPr kumimoji="0" lang="en-US" dirty="0"/>
          </a:p>
        </p:txBody>
      </p:sp>
      <p:sp>
        <p:nvSpPr>
          <p:cNvPr id="7" name="Rectangle 6"/>
          <p:cNvSpPr/>
          <p:nvPr/>
        </p:nvSpPr>
        <p:spPr>
          <a:xfrm>
            <a:off x="1219200" y="2819400"/>
            <a:ext cx="9753600" cy="1280160"/>
          </a:xfrm>
          <a:prstGeom prst="rect">
            <a:avLst/>
          </a:prstGeom>
          <a:noFill/>
          <a:ln w="6350" cap="rnd" cmpd="sng" algn="ctr">
            <a:solidFill>
              <a:schemeClr val="accent1"/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  <p:sp>
        <p:nvSpPr>
          <p:cNvPr id="8" name="Rectangle 7"/>
          <p:cNvSpPr/>
          <p:nvPr/>
        </p:nvSpPr>
        <p:spPr>
          <a:xfrm>
            <a:off x="1219200" y="2819400"/>
            <a:ext cx="304800" cy="1280160"/>
          </a:xfrm>
          <a:prstGeom prst="rect">
            <a:avLst/>
          </a:prstGeom>
          <a:solidFill>
            <a:schemeClr val="accent1"/>
          </a:solidFill>
          <a:ln w="635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28600"/>
            <a:ext cx="10972800" cy="914400"/>
          </a:xfrm>
        </p:spPr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eaLnBrk="1" latinLnBrk="0" hangingPunct="1"/>
            <a:fld id="{2500C8B0-EB1A-0A41-B839-C4B99CD2225A}" type="datetime1">
              <a:rPr lang="en-US" smtClean="0"/>
              <a:t>2/5/2026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‹#›</a:t>
            </a:fld>
            <a:endParaRPr kumimoji="0" lang="en-US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"/>
          </p:nvPr>
        </p:nvSpPr>
        <p:spPr>
          <a:xfrm>
            <a:off x="609600" y="1219200"/>
            <a:ext cx="5388864" cy="493776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"/>
          </p:nvPr>
        </p:nvSpPr>
        <p:spPr>
          <a:xfrm>
            <a:off x="6176264" y="1216152"/>
            <a:ext cx="5388864" cy="493776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28600"/>
            <a:ext cx="10972800" cy="914400"/>
          </a:xfrm>
        </p:spPr>
        <p:txBody>
          <a:bodyPr anchor="ctr"/>
          <a:lstStyle>
            <a:lvl1pPr>
              <a:defRPr/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285875"/>
            <a:ext cx="5386917" cy="685800"/>
          </a:xfrm>
          <a:noFill/>
          <a:ln>
            <a:noFill/>
          </a:ln>
        </p:spPr>
        <p:txBody>
          <a:bodyPr lIns="91440" anchor="b" anchorCtr="0">
            <a:noAutofit/>
          </a:bodyPr>
          <a:lstStyle>
            <a:lvl1pPr marL="0" indent="0">
              <a:buNone/>
              <a:defRPr sz="2400" b="1">
                <a:solidFill>
                  <a:schemeClr val="accent2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6197601" y="1295400"/>
            <a:ext cx="5389033" cy="685800"/>
          </a:xfrm>
          <a:noFill/>
          <a:ln>
            <a:noFill/>
          </a:ln>
        </p:spPr>
        <p:txBody>
          <a:bodyPr lIns="91440" anchor="b" anchorCtr="0"/>
          <a:lstStyle>
            <a:lvl1pPr marL="0" indent="0">
              <a:buNone/>
              <a:defRPr sz="2400" b="1">
                <a:solidFill>
                  <a:schemeClr val="accent2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eaLnBrk="1" latinLnBrk="0" hangingPunct="1"/>
            <a:fld id="{4F16605B-D952-1149-A111-28A5633BAE48}" type="datetime1">
              <a:rPr lang="en-US" smtClean="0"/>
              <a:t>2/5/2026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‹#›</a:t>
            </a:fld>
            <a:endParaRPr kumimoji="0"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"/>
          </p:nvPr>
        </p:nvSpPr>
        <p:spPr>
          <a:xfrm>
            <a:off x="609600" y="2133600"/>
            <a:ext cx="5384800" cy="403860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13" name="Content Placeholder 12"/>
          <p:cNvSpPr>
            <a:spLocks noGrp="1"/>
          </p:cNvSpPr>
          <p:nvPr>
            <p:ph sz="quarter" idx="4"/>
          </p:nvPr>
        </p:nvSpPr>
        <p:spPr>
          <a:xfrm>
            <a:off x="6197600" y="2133600"/>
            <a:ext cx="5384800" cy="403860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28600"/>
            <a:ext cx="10972800" cy="914400"/>
          </a:xfrm>
        </p:spPr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eaLnBrk="1" latinLnBrk="0" hangingPunct="1"/>
            <a:fld id="{91109A1C-29B2-B04E-8365-C9D22C4AE842}" type="datetime1">
              <a:rPr lang="en-US" smtClean="0"/>
              <a:t>2/5/2026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‹#›</a:t>
            </a:fld>
            <a:endParaRPr kumimoji="0" lang="en-US"/>
          </a:p>
        </p:txBody>
      </p:sp>
      <p:sp>
        <p:nvSpPr>
          <p:cNvPr id="6" name="Isosceles Triangle 5"/>
          <p:cNvSpPr>
            <a:spLocks noChangeAspect="1"/>
          </p:cNvSpPr>
          <p:nvPr/>
        </p:nvSpPr>
        <p:spPr>
          <a:xfrm rot="5400000">
            <a:off x="590609" y="6447423"/>
            <a:ext cx="190849" cy="160419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eaLnBrk="1" latinLnBrk="0" hangingPunct="1"/>
            <a:fld id="{2CE417B6-A42B-064A-8677-46C55C4F613A}" type="datetime1">
              <a:rPr lang="en-US" smtClean="0"/>
              <a:t>2/5/2026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‹#›</a:t>
            </a:fld>
            <a:endParaRPr kumimoji="0" lang="en-US"/>
          </a:p>
        </p:txBody>
      </p:sp>
      <p:sp>
        <p:nvSpPr>
          <p:cNvPr id="5" name="Straight Connector 4"/>
          <p:cNvSpPr>
            <a:spLocks noChangeShapeType="1"/>
          </p:cNvSpPr>
          <p:nvPr/>
        </p:nvSpPr>
        <p:spPr bwMode="auto">
          <a:xfrm>
            <a:off x="609600" y="6353175"/>
            <a:ext cx="109728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sz="1800"/>
          </a:p>
        </p:txBody>
      </p:sp>
      <p:sp>
        <p:nvSpPr>
          <p:cNvPr id="6" name="Isosceles Triangle 5"/>
          <p:cNvSpPr>
            <a:spLocks noChangeAspect="1"/>
          </p:cNvSpPr>
          <p:nvPr/>
        </p:nvSpPr>
        <p:spPr>
          <a:xfrm rot="5400000">
            <a:off x="590609" y="6447423"/>
            <a:ext cx="190849" cy="160419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32800" y="304800"/>
            <a:ext cx="3352800" cy="838200"/>
          </a:xfrm>
        </p:spPr>
        <p:txBody>
          <a:bodyPr anchor="b" anchorCtr="0">
            <a:noAutofit/>
          </a:bodyPr>
          <a:lstStyle>
            <a:lvl1pPr algn="l">
              <a:buNone/>
              <a:defRPr sz="2000" b="1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8432800" y="1219201"/>
            <a:ext cx="3352800" cy="4843463"/>
          </a:xfrm>
        </p:spPr>
        <p:txBody>
          <a:bodyPr/>
          <a:lstStyle>
            <a:lvl1pPr marL="0" indent="0">
              <a:lnSpc>
                <a:spcPts val="2200"/>
              </a:lnSpc>
              <a:spcAft>
                <a:spcPts val="1000"/>
              </a:spcAft>
              <a:buNone/>
              <a:defRPr sz="1600">
                <a:solidFill>
                  <a:schemeClr val="tx2"/>
                </a:solidFill>
              </a:defRPr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eaLnBrk="1" latinLnBrk="0" hangingPunct="1"/>
            <a:fld id="{DE76F5AD-3F1F-7141-BC8A-012C5728BE2D}" type="datetime1">
              <a:rPr lang="en-US" smtClean="0"/>
              <a:t>2/5/2026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‹#›</a:t>
            </a:fld>
            <a:endParaRPr kumimoji="0" lang="en-US"/>
          </a:p>
        </p:txBody>
      </p:sp>
      <p:sp>
        <p:nvSpPr>
          <p:cNvPr id="8" name="Straight Connector 7"/>
          <p:cNvSpPr>
            <a:spLocks noChangeShapeType="1"/>
          </p:cNvSpPr>
          <p:nvPr/>
        </p:nvSpPr>
        <p:spPr bwMode="auto">
          <a:xfrm>
            <a:off x="609600" y="6353175"/>
            <a:ext cx="109728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sz="1800"/>
          </a:p>
        </p:txBody>
      </p:sp>
      <p:sp>
        <p:nvSpPr>
          <p:cNvPr id="10" name="Straight Connector 9"/>
          <p:cNvSpPr>
            <a:spLocks noChangeShapeType="1"/>
          </p:cNvSpPr>
          <p:nvPr/>
        </p:nvSpPr>
        <p:spPr bwMode="auto">
          <a:xfrm rot="5400000">
            <a:off x="5220033" y="3324225"/>
            <a:ext cx="603504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sz="1800" dirty="0"/>
          </a:p>
        </p:txBody>
      </p:sp>
      <p:sp>
        <p:nvSpPr>
          <p:cNvPr id="9" name="Isosceles Triangle 8"/>
          <p:cNvSpPr>
            <a:spLocks noChangeAspect="1"/>
          </p:cNvSpPr>
          <p:nvPr/>
        </p:nvSpPr>
        <p:spPr>
          <a:xfrm rot="5400000">
            <a:off x="590609" y="6447423"/>
            <a:ext cx="190849" cy="160419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  <p:sp>
        <p:nvSpPr>
          <p:cNvPr id="12" name="Content Placeholder 11"/>
          <p:cNvSpPr>
            <a:spLocks noGrp="1"/>
          </p:cNvSpPr>
          <p:nvPr>
            <p:ph sz="quarter" idx="1"/>
          </p:nvPr>
        </p:nvSpPr>
        <p:spPr>
          <a:xfrm>
            <a:off x="406400" y="304800"/>
            <a:ext cx="7620000" cy="571500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500856"/>
            <a:ext cx="10972800" cy="674688"/>
          </a:xfrm>
          <a:ln>
            <a:solidFill>
              <a:schemeClr val="accent1"/>
            </a:solidFill>
          </a:ln>
        </p:spPr>
        <p:txBody>
          <a:bodyPr lIns="274320" anchor="ctr"/>
          <a:lstStyle>
            <a:lvl1pPr algn="r">
              <a:buNone/>
              <a:defRPr sz="2000" b="0">
                <a:solidFill>
                  <a:schemeClr val="tx1"/>
                </a:solidFill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609600" y="1905000"/>
            <a:ext cx="10972800" cy="4270248"/>
          </a:xfrm>
          <a:solidFill>
            <a:schemeClr val="tx1">
              <a:shade val="50000"/>
            </a:schemeClr>
          </a:solidFill>
          <a:ln>
            <a:noFill/>
          </a:ln>
          <a:effectLst/>
        </p:spPr>
        <p:txBody>
          <a:bodyPr/>
          <a:lstStyle>
            <a:lvl1pPr marL="0" indent="0">
              <a:spcBef>
                <a:spcPts val="600"/>
              </a:spcBef>
              <a:buNone/>
              <a:defRPr sz="3200"/>
            </a:lvl1pPr>
          </a:lstStyle>
          <a:p>
            <a:r>
              <a:rPr kumimoji="0" lang="en-US"/>
              <a:t>Click icon to add picture</a:t>
            </a:r>
            <a:endParaRPr kumimoji="0"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0" y="1219200"/>
            <a:ext cx="10972800" cy="533400"/>
          </a:xfrm>
        </p:spPr>
        <p:txBody>
          <a:bodyPr anchor="ctr" anchorCtr="0"/>
          <a:lstStyle>
            <a:lvl1pPr marL="0" indent="0" algn="l">
              <a:buFontTx/>
              <a:buNone/>
              <a:defRPr sz="14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eaLnBrk="1" latinLnBrk="0" hangingPunct="1"/>
            <a:fld id="{09FA12B8-739E-4D47-A14C-180C3BC10865}" type="datetime1">
              <a:rPr lang="en-US" smtClean="0"/>
              <a:t>2/5/2026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‹#›</a:t>
            </a:fld>
            <a:endParaRPr kumimoji="0" lang="en-US"/>
          </a:p>
        </p:txBody>
      </p:sp>
      <p:sp>
        <p:nvSpPr>
          <p:cNvPr id="8" name="Straight Connector 7"/>
          <p:cNvSpPr>
            <a:spLocks noChangeShapeType="1"/>
          </p:cNvSpPr>
          <p:nvPr/>
        </p:nvSpPr>
        <p:spPr bwMode="auto">
          <a:xfrm>
            <a:off x="609600" y="6353175"/>
            <a:ext cx="109728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sz="1800"/>
          </a:p>
        </p:txBody>
      </p:sp>
      <p:sp>
        <p:nvSpPr>
          <p:cNvPr id="9" name="Isosceles Triangle 8"/>
          <p:cNvSpPr>
            <a:spLocks noChangeAspect="1"/>
          </p:cNvSpPr>
          <p:nvPr/>
        </p:nvSpPr>
        <p:spPr>
          <a:xfrm rot="5400000">
            <a:off x="590609" y="6447423"/>
            <a:ext cx="190849" cy="160419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  <p:sp>
        <p:nvSpPr>
          <p:cNvPr id="10" name="Rectangle 9"/>
          <p:cNvSpPr/>
          <p:nvPr/>
        </p:nvSpPr>
        <p:spPr>
          <a:xfrm>
            <a:off x="609600" y="500856"/>
            <a:ext cx="243840" cy="685800"/>
          </a:xfrm>
          <a:prstGeom prst="rect">
            <a:avLst/>
          </a:prstGeom>
          <a:solidFill>
            <a:schemeClr val="accent1"/>
          </a:solidFill>
          <a:ln w="635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eaLnBrk="1" latinLnBrk="0" hangingPunct="1"/>
            <a:fld id="{597D1259-3A46-254C-ADDB-B5DA4F1DF3DA}" type="datetime1">
              <a:rPr lang="en-US" smtClean="0"/>
              <a:t>2/5/2026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‹#›</a:t>
            </a:fld>
            <a:endParaRPr kumimoji="0"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eaLnBrk="1" latinLnBrk="0" hangingPunct="1"/>
            <a:fld id="{CCA104EC-54AA-E04F-BDC0-22B4E8892699}" type="datetime1">
              <a:rPr lang="en-US" smtClean="0"/>
              <a:t>2/5/2026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‹#›</a:t>
            </a:fld>
            <a:endParaRPr kumimoji="0" lang="en-US"/>
          </a:p>
        </p:txBody>
      </p:sp>
      <p:sp>
        <p:nvSpPr>
          <p:cNvPr id="7" name="Straight Connector 6"/>
          <p:cNvSpPr>
            <a:spLocks noChangeShapeType="1"/>
          </p:cNvSpPr>
          <p:nvPr/>
        </p:nvSpPr>
        <p:spPr bwMode="auto">
          <a:xfrm>
            <a:off x="609600" y="6353175"/>
            <a:ext cx="109728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sz="1800"/>
          </a:p>
        </p:txBody>
      </p:sp>
      <p:sp>
        <p:nvSpPr>
          <p:cNvPr id="8" name="Isosceles Triangle 7"/>
          <p:cNvSpPr>
            <a:spLocks noChangeAspect="1"/>
          </p:cNvSpPr>
          <p:nvPr/>
        </p:nvSpPr>
        <p:spPr>
          <a:xfrm rot="5400000">
            <a:off x="590609" y="6447423"/>
            <a:ext cx="190849" cy="160419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  <p:sp>
        <p:nvSpPr>
          <p:cNvPr id="9" name="Straight Connector 8"/>
          <p:cNvSpPr>
            <a:spLocks noChangeShapeType="1"/>
          </p:cNvSpPr>
          <p:nvPr/>
        </p:nvSpPr>
        <p:spPr bwMode="auto">
          <a:xfrm rot="5400000">
            <a:off x="5814836" y="3201952"/>
            <a:ext cx="585216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sz="180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itle Placeholder 21"/>
          <p:cNvSpPr>
            <a:spLocks noGrp="1"/>
          </p:cNvSpPr>
          <p:nvPr>
            <p:ph type="title"/>
          </p:nvPr>
        </p:nvSpPr>
        <p:spPr>
          <a:xfrm>
            <a:off x="609600" y="152400"/>
            <a:ext cx="10972800" cy="990600"/>
          </a:xfrm>
          <a:prstGeom prst="rect">
            <a:avLst/>
          </a:prstGeom>
        </p:spPr>
        <p:txBody>
          <a:bodyPr vert="horz" anchor="b" anchorCtr="0">
            <a:normAutofit/>
          </a:bodyPr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13" name="Text Placeholder 12"/>
          <p:cNvSpPr>
            <a:spLocks noGrp="1"/>
          </p:cNvSpPr>
          <p:nvPr>
            <p:ph type="body" idx="1"/>
          </p:nvPr>
        </p:nvSpPr>
        <p:spPr>
          <a:xfrm>
            <a:off x="609600" y="1219200"/>
            <a:ext cx="10972800" cy="4910328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en-US"/>
              <a:t>Click to edit Master text styles</a:t>
            </a:r>
          </a:p>
          <a:p>
            <a:pPr lvl="1" eaLnBrk="1" latinLnBrk="0" hangingPunct="1"/>
            <a:r>
              <a:rPr kumimoji="0" lang="en-US"/>
              <a:t>Second level</a:t>
            </a:r>
          </a:p>
          <a:p>
            <a:pPr lvl="2" eaLnBrk="1" latinLnBrk="0" hangingPunct="1"/>
            <a:r>
              <a:rPr kumimoji="0" lang="en-US"/>
              <a:t>Third level</a:t>
            </a:r>
          </a:p>
          <a:p>
            <a:pPr lvl="3" eaLnBrk="1" latinLnBrk="0" hangingPunct="1"/>
            <a:r>
              <a:rPr kumimoji="0" lang="en-US"/>
              <a:t>Fourth level</a:t>
            </a:r>
          </a:p>
          <a:p>
            <a:pPr lvl="4" eaLnBrk="1" latinLnBrk="0" hangingPunct="1"/>
            <a:r>
              <a:rPr kumimoji="0" lang="en-US"/>
              <a:t>Fifth level</a:t>
            </a:r>
          </a:p>
        </p:txBody>
      </p:sp>
      <p:sp>
        <p:nvSpPr>
          <p:cNvPr id="14" name="Date Placeholder 13"/>
          <p:cNvSpPr>
            <a:spLocks noGrp="1"/>
          </p:cNvSpPr>
          <p:nvPr>
            <p:ph type="dt" sz="half" idx="2"/>
          </p:nvPr>
        </p:nvSpPr>
        <p:spPr>
          <a:xfrm>
            <a:off x="8534400" y="6356350"/>
            <a:ext cx="3052064" cy="365760"/>
          </a:xfrm>
          <a:prstGeom prst="rect">
            <a:avLst/>
          </a:prstGeom>
        </p:spPr>
        <p:txBody>
          <a:bodyPr vert="horz"/>
          <a:lstStyle>
            <a:lvl1pPr algn="l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pPr eaLnBrk="1" latinLnBrk="0" hangingPunct="1"/>
            <a:fld id="{CDD18CD8-E404-844E-A4BD-DF69B8E5881E}" type="datetime1">
              <a:rPr lang="en-US" smtClean="0"/>
              <a:t>2/5/2026</a:t>
            </a:fld>
            <a:endParaRPr lang="en-US" sz="1400" dirty="0">
              <a:solidFill>
                <a:schemeClr val="tx2"/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3864864" y="6356350"/>
            <a:ext cx="4673600" cy="365760"/>
          </a:xfrm>
          <a:prstGeom prst="rect">
            <a:avLst/>
          </a:prstGeom>
        </p:spPr>
        <p:txBody>
          <a:bodyPr vert="horz"/>
          <a:lstStyle>
            <a:lvl1pPr algn="r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pPr algn="r" eaLnBrk="1" latinLnBrk="0" hangingPunct="1"/>
            <a:endParaRPr kumimoji="0" lang="en-US" sz="1400" dirty="0">
              <a:solidFill>
                <a:schemeClr val="tx2"/>
              </a:solidFill>
            </a:endParaRPr>
          </a:p>
        </p:txBody>
      </p:sp>
      <p:sp>
        <p:nvSpPr>
          <p:cNvPr id="23" name="Slide Number Placeholder 22"/>
          <p:cNvSpPr>
            <a:spLocks noGrp="1"/>
          </p:cNvSpPr>
          <p:nvPr>
            <p:ph type="sldNum" sz="quarter" idx="4"/>
          </p:nvPr>
        </p:nvSpPr>
        <p:spPr>
          <a:xfrm>
            <a:off x="816864" y="6356350"/>
            <a:ext cx="2641600" cy="365760"/>
          </a:xfrm>
          <a:prstGeom prst="rect">
            <a:avLst/>
          </a:prstGeom>
        </p:spPr>
        <p:txBody>
          <a:bodyPr vert="horz"/>
          <a:lstStyle>
            <a:lvl1pPr algn="l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pPr algn="l" eaLnBrk="1" latinLnBrk="0" hangingPunct="1"/>
            <a:fld id="{EA7C8D44-3667-46F6-9772-CC52308E2A7F}" type="slidenum">
              <a:rPr kumimoji="0" lang="en-US" smtClean="0"/>
              <a:pPr algn="l" eaLnBrk="1" latinLnBrk="0" hangingPunct="1"/>
              <a:t>‹#›</a:t>
            </a:fld>
            <a:endParaRPr kumimoji="0" lang="en-US" sz="1600" dirty="0">
              <a:solidFill>
                <a:schemeClr val="tx2"/>
              </a:solidFill>
            </a:endParaRPr>
          </a:p>
        </p:txBody>
      </p:sp>
      <p:sp>
        <p:nvSpPr>
          <p:cNvPr id="28" name="Straight Connector 27"/>
          <p:cNvSpPr>
            <a:spLocks noChangeShapeType="1"/>
          </p:cNvSpPr>
          <p:nvPr/>
        </p:nvSpPr>
        <p:spPr bwMode="auto">
          <a:xfrm>
            <a:off x="609600" y="6353175"/>
            <a:ext cx="109728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sz="1800"/>
          </a:p>
        </p:txBody>
      </p:sp>
      <p:sp>
        <p:nvSpPr>
          <p:cNvPr id="29" name="Straight Connector 28"/>
          <p:cNvSpPr>
            <a:spLocks noChangeShapeType="1"/>
          </p:cNvSpPr>
          <p:nvPr/>
        </p:nvSpPr>
        <p:spPr bwMode="auto">
          <a:xfrm>
            <a:off x="609600" y="1143000"/>
            <a:ext cx="109728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sz="1800"/>
          </a:p>
        </p:txBody>
      </p:sp>
      <p:sp>
        <p:nvSpPr>
          <p:cNvPr id="10" name="Isosceles Triangle 9"/>
          <p:cNvSpPr>
            <a:spLocks noChangeAspect="1"/>
          </p:cNvSpPr>
          <p:nvPr/>
        </p:nvSpPr>
        <p:spPr>
          <a:xfrm rot="5400000">
            <a:off x="590609" y="6447423"/>
            <a:ext cx="190849" cy="160419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 ftr="0" dt="0"/>
  <p:txStyles>
    <p:titleStyle>
      <a:lvl1pPr algn="l" rtl="0" eaLnBrk="1" latinLnBrk="0" hangingPunct="1">
        <a:spcBef>
          <a:spcPct val="0"/>
        </a:spcBef>
        <a:buNone/>
        <a:defRPr kumimoji="0" sz="3200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74320" indent="-274320" algn="l" rtl="0" eaLnBrk="1" latinLnBrk="0" hangingPunct="1">
        <a:spcBef>
          <a:spcPts val="600"/>
        </a:spcBef>
        <a:buClr>
          <a:schemeClr val="accent1"/>
        </a:buClr>
        <a:buSzPct val="76000"/>
        <a:buFont typeface="Wingdings 3"/>
        <a:buChar char="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1pPr>
      <a:lvl2pPr marL="548640" indent="-274320" algn="l" rtl="0" eaLnBrk="1" latinLnBrk="0" hangingPunct="1">
        <a:spcBef>
          <a:spcPts val="500"/>
        </a:spcBef>
        <a:buClr>
          <a:schemeClr val="accent2"/>
        </a:buClr>
        <a:buSzPct val="76000"/>
        <a:buFont typeface="Wingdings 3"/>
        <a:buChar char=""/>
        <a:defRPr kumimoji="0" sz="2300" kern="1200">
          <a:solidFill>
            <a:schemeClr val="tx2"/>
          </a:solidFill>
          <a:latin typeface="+mn-lt"/>
          <a:ea typeface="+mn-ea"/>
          <a:cs typeface="+mn-cs"/>
        </a:defRPr>
      </a:lvl2pPr>
      <a:lvl3pPr marL="822960" indent="-228600" algn="l" rtl="0" eaLnBrk="1" latinLnBrk="0" hangingPunct="1">
        <a:spcBef>
          <a:spcPts val="500"/>
        </a:spcBef>
        <a:buClr>
          <a:schemeClr val="bg1">
            <a:shade val="50000"/>
          </a:schemeClr>
        </a:buClr>
        <a:buSzPct val="76000"/>
        <a:buFont typeface="Wingdings 3"/>
        <a:buChar char="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097280" indent="-228600" algn="l" rtl="0" eaLnBrk="1" latinLnBrk="0" hangingPunct="1">
        <a:spcBef>
          <a:spcPts val="400"/>
        </a:spcBef>
        <a:buClr>
          <a:schemeClr val="accent2">
            <a:shade val="75000"/>
          </a:schemeClr>
        </a:buClr>
        <a:buSzPct val="70000"/>
        <a:buFont typeface="Wingdings"/>
        <a:buChar char="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indent="-228600" algn="l" rtl="0" eaLnBrk="1" latinLnBrk="0" hangingPunct="1">
        <a:spcBef>
          <a:spcPts val="300"/>
        </a:spcBef>
        <a:buClr>
          <a:schemeClr val="accent2"/>
        </a:buClr>
        <a:buSzPct val="70000"/>
        <a:buFont typeface="Wingdings"/>
        <a:buChar char="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645920" indent="-182880" algn="l" rtl="0" eaLnBrk="1" latinLnBrk="0" hangingPunct="1">
        <a:spcBef>
          <a:spcPts val="300"/>
        </a:spcBef>
        <a:buClr>
          <a:srgbClr val="9FB8CD">
            <a:shade val="75000"/>
          </a:srgbClr>
        </a:buClr>
        <a:buSzPct val="75000"/>
        <a:buFont typeface="Wingdings 3"/>
        <a:buChar char=""/>
        <a:defRPr kumimoji="0" lang="en-US" sz="1600" kern="1200" smtClean="0">
          <a:solidFill>
            <a:schemeClr val="tx1"/>
          </a:solidFill>
          <a:latin typeface="+mn-lt"/>
          <a:ea typeface="+mn-ea"/>
          <a:cs typeface="+mn-cs"/>
        </a:defRPr>
      </a:lvl6pPr>
      <a:lvl7pPr marL="1828800" indent="-182880" algn="l" rtl="0" eaLnBrk="1" latinLnBrk="0" hangingPunct="1">
        <a:spcBef>
          <a:spcPts val="300"/>
        </a:spcBef>
        <a:buClr>
          <a:srgbClr val="727CA3">
            <a:shade val="75000"/>
          </a:srgbClr>
        </a:buClr>
        <a:buSzPct val="75000"/>
        <a:buFont typeface="Wingdings 3"/>
        <a:buChar char=""/>
        <a:defRPr kumimoji="0" lang="en-US" sz="1400" kern="1200" smtClean="0">
          <a:solidFill>
            <a:schemeClr val="tx1"/>
          </a:solidFill>
          <a:latin typeface="+mn-lt"/>
          <a:ea typeface="+mn-ea"/>
          <a:cs typeface="+mn-cs"/>
        </a:defRPr>
      </a:lvl7pPr>
      <a:lvl8pPr marL="2011680" indent="-182880" algn="l" rtl="0" eaLnBrk="1" latinLnBrk="0" hangingPunct="1">
        <a:spcBef>
          <a:spcPts val="300"/>
        </a:spcBef>
        <a:buClr>
          <a:prstClr val="white">
            <a:shade val="50000"/>
          </a:prstClr>
        </a:buClr>
        <a:buSzPct val="75000"/>
        <a:buFont typeface="Wingdings 3"/>
        <a:buChar char=""/>
        <a:defRPr kumimoji="0" lang="en-US" sz="1400" kern="1200" smtClean="0">
          <a:solidFill>
            <a:schemeClr val="tx1"/>
          </a:solidFill>
          <a:latin typeface="+mn-lt"/>
          <a:ea typeface="+mn-ea"/>
          <a:cs typeface="+mn-cs"/>
        </a:defRPr>
      </a:lvl8pPr>
      <a:lvl9pPr marL="2194560" indent="-182880" algn="l" rtl="0" eaLnBrk="1" latinLnBrk="0" hangingPunct="1">
        <a:spcBef>
          <a:spcPts val="300"/>
        </a:spcBef>
        <a:buClr>
          <a:srgbClr val="9FB8CD"/>
        </a:buClr>
        <a:buSzPct val="75000"/>
        <a:buFont typeface="Wingdings 3"/>
        <a:buChar char=""/>
        <a:defRPr kumimoji="0" lang="en-US" sz="1200" kern="1200" smtClean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Autofit/>
          </a:bodyPr>
          <a:lstStyle/>
          <a:p>
            <a:r>
              <a:rPr lang="en-US" altLang="zh-CN" sz="2000" dirty="0"/>
              <a:t>Z. Gu</a:t>
            </a:r>
            <a:br>
              <a:rPr lang="en-US" sz="2000" dirty="0"/>
            </a:br>
            <a:r>
              <a:rPr lang="en-US" sz="2000" dirty="0"/>
              <a:t>Hofstra University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Spring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0" y="279233"/>
            <a:ext cx="6477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b="1" dirty="0">
                <a:latin typeface="Bookman Old Style (Headings)"/>
              </a:rPr>
              <a:t>Embedded Systems with ARM Cortex-M Microcontrollers in Assembly Language and 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01425" y="1743875"/>
            <a:ext cx="3168175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2400" b="1" dirty="0">
                <a:solidFill>
                  <a:srgbClr val="C00000"/>
                </a:solidFill>
              </a:rPr>
              <a:t>Chapter 2</a:t>
            </a:r>
          </a:p>
          <a:p>
            <a:pPr algn="r"/>
            <a:r>
              <a:rPr lang="en-US" sz="2400" b="1" dirty="0">
                <a:solidFill>
                  <a:srgbClr val="C00000"/>
                </a:solidFill>
              </a:rPr>
              <a:t>Data Representation</a:t>
            </a:r>
          </a:p>
          <a:p>
            <a:pPr algn="r"/>
            <a:r>
              <a:rPr lang="en-US" sz="2400" b="1" dirty="0">
                <a:solidFill>
                  <a:srgbClr val="C00000"/>
                </a:solidFill>
              </a:rPr>
              <a:t>Exercises ANS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1</a:t>
            </a:fld>
            <a:endParaRPr kumimoji="0" lang="en-US" dirty="0"/>
          </a:p>
        </p:txBody>
      </p:sp>
    </p:spTree>
    <p:extLst>
      <p:ext uri="{BB962C8B-B14F-4D97-AF65-F5344CB8AC3E}">
        <p14:creationId xmlns:p14="http://schemas.microsoft.com/office/powerpoint/2010/main" val="168328134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Question: Number Conversion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kern="0" dirty="0">
                <a:latin typeface="Arial" charset="0"/>
              </a:rPr>
              <a:t>Q: Convert 0x3A56E2F8 into binary  </a:t>
            </a:r>
          </a:p>
          <a:p>
            <a:endParaRPr lang="en-US" dirty="0"/>
          </a:p>
          <a:p>
            <a:r>
              <a:rPr lang="en-US" dirty="0"/>
              <a:t>Q: Convert binary number 111010 into hex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840014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Answer: Number Conversion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kern="0" dirty="0">
                <a:latin typeface="Arial" charset="0"/>
              </a:rPr>
              <a:t>Q: Convert 0x3A56E2F8 into binary  </a:t>
            </a:r>
          </a:p>
          <a:p>
            <a:r>
              <a:rPr lang="en-US" dirty="0"/>
              <a:t>A: 0011 1010 0101 0110 1110 0010 1111 1000 (simple table lookup for each hex symbol)</a:t>
            </a:r>
          </a:p>
          <a:p>
            <a:r>
              <a:rPr lang="en-US" dirty="0"/>
              <a:t>Q: Convert binary number 111010 into hex</a:t>
            </a:r>
          </a:p>
          <a:p>
            <a:r>
              <a:rPr lang="en-US" dirty="0"/>
              <a:t>A: 0x3A (group 111010 into two parts 0011 1010, followed by </a:t>
            </a:r>
            <a:r>
              <a:rPr lang="en-US"/>
              <a:t>table lookup)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8835672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Question: 2’s Complement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/>
              <a:t>For each of the following binary numbers, give the corresponding binary number of the negative of its value, for 2’s-complement system</a:t>
            </a:r>
          </a:p>
          <a:p>
            <a:r>
              <a:rPr lang="pt-BR" dirty="0"/>
              <a:t>(a) x=01010101</a:t>
            </a:r>
          </a:p>
          <a:p>
            <a:r>
              <a:rPr lang="pt-BR" dirty="0"/>
              <a:t>(b) x=10101010</a:t>
            </a:r>
          </a:p>
          <a:p>
            <a:r>
              <a:rPr lang="pt-BR" dirty="0"/>
              <a:t>(c) x=10000000</a:t>
            </a:r>
          </a:p>
        </p:txBody>
      </p:sp>
    </p:spTree>
    <p:extLst>
      <p:ext uri="{BB962C8B-B14F-4D97-AF65-F5344CB8AC3E}">
        <p14:creationId xmlns:p14="http://schemas.microsoft.com/office/powerpoint/2010/main" val="418297348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Answer: 2’s Complement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/>
              <a:t>For each of the following binary numbers x, give the corresponding binary number of –x in 2’s-complement representation?</a:t>
            </a:r>
          </a:p>
          <a:p>
            <a:r>
              <a:rPr lang="pt-BR" dirty="0"/>
              <a:t>(a) x=01010101</a:t>
            </a:r>
          </a:p>
          <a:p>
            <a:pPr lvl="1"/>
            <a:r>
              <a:rPr lang="pt-BR" dirty="0"/>
              <a:t>-x = 10101011</a:t>
            </a:r>
          </a:p>
          <a:p>
            <a:r>
              <a:rPr lang="pt-BR" dirty="0"/>
              <a:t>(b) x=10101010</a:t>
            </a:r>
          </a:p>
          <a:p>
            <a:pPr lvl="1"/>
            <a:r>
              <a:rPr lang="pt-BR" dirty="0"/>
              <a:t>-x = 01010110</a:t>
            </a:r>
          </a:p>
          <a:p>
            <a:r>
              <a:rPr lang="pt-BR" dirty="0"/>
              <a:t>(c) x=10000000</a:t>
            </a:r>
          </a:p>
          <a:p>
            <a:pPr lvl="1"/>
            <a:r>
              <a:rPr lang="pt-BR" dirty="0"/>
              <a:t>-x = 10000000</a:t>
            </a:r>
          </a:p>
          <a:p>
            <a:endParaRPr lang="pt-BR" dirty="0"/>
          </a:p>
          <a:p>
            <a:pPr lvl="1"/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23921665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Question: Number Conversion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altLang="zh-CN" dirty="0">
                <a:latin typeface="Tahoma" pitchFamily="34" charset="0"/>
                <a:cs typeface="Times New Roman" pitchFamily="18" charset="0"/>
              </a:rPr>
              <a:t>Q: </a:t>
            </a:r>
            <a:r>
              <a:rPr lang="en-US" dirty="0">
                <a:latin typeface="Tahoma" pitchFamily="34" charset="0"/>
                <a:cs typeface="Times New Roman" pitchFamily="18" charset="0"/>
              </a:rPr>
              <a:t>What is the decimal value of binary number x=10100111 as either unsigned </a:t>
            </a:r>
            <a:r>
              <a:rPr lang="en-US" dirty="0" err="1">
                <a:latin typeface="Tahoma" pitchFamily="34" charset="0"/>
                <a:cs typeface="Times New Roman" pitchFamily="18" charset="0"/>
              </a:rPr>
              <a:t>int</a:t>
            </a:r>
            <a:r>
              <a:rPr lang="en-US" dirty="0">
                <a:latin typeface="Tahoma" pitchFamily="34" charset="0"/>
                <a:cs typeface="Times New Roman" pitchFamily="18" charset="0"/>
              </a:rPr>
              <a:t>, or signed </a:t>
            </a:r>
            <a:r>
              <a:rPr lang="en-US" dirty="0" err="1">
                <a:latin typeface="Tahoma" pitchFamily="34" charset="0"/>
                <a:cs typeface="Times New Roman" pitchFamily="18" charset="0"/>
              </a:rPr>
              <a:t>int</a:t>
            </a:r>
            <a:r>
              <a:rPr lang="en-US" dirty="0">
                <a:latin typeface="Tahoma" pitchFamily="34" charset="0"/>
                <a:cs typeface="Times New Roman" pitchFamily="18" charset="0"/>
              </a:rPr>
              <a:t> in 2’s complement representation?</a:t>
            </a:r>
          </a:p>
          <a:p>
            <a:r>
              <a:rPr lang="en-US" dirty="0">
                <a:latin typeface="Tahoma" pitchFamily="34" charset="0"/>
                <a:cs typeface="Times New Roman" pitchFamily="18" charset="0"/>
              </a:rPr>
              <a:t>What about x=11100001? </a:t>
            </a:r>
          </a:p>
          <a:p>
            <a:r>
              <a:rPr lang="en-US" dirty="0">
                <a:latin typeface="Tahoma" pitchFamily="34" charset="0"/>
                <a:cs typeface="Times New Roman" pitchFamily="18" charset="0"/>
              </a:rPr>
              <a:t>What about x=10000000?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7287673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Answer: Number Conversion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609600" y="1219201"/>
            <a:ext cx="10972800" cy="3962399"/>
          </a:xfrm>
        </p:spPr>
        <p:txBody>
          <a:bodyPr>
            <a:normAutofit fontScale="92500" lnSpcReduction="20000"/>
          </a:bodyPr>
          <a:lstStyle/>
          <a:p>
            <a:r>
              <a:rPr lang="en-US" altLang="zh-CN" sz="2400" dirty="0">
                <a:latin typeface="Tahoma" pitchFamily="34" charset="0"/>
                <a:cs typeface="Times New Roman" pitchFamily="18" charset="0"/>
              </a:rPr>
              <a:t>Q: </a:t>
            </a:r>
            <a:r>
              <a:rPr lang="en-US" sz="2400" dirty="0">
                <a:latin typeface="Tahoma" pitchFamily="34" charset="0"/>
                <a:cs typeface="Times New Roman" pitchFamily="18" charset="0"/>
              </a:rPr>
              <a:t>What is the decimal value of binary number x=10100111 as either unsigned </a:t>
            </a:r>
            <a:r>
              <a:rPr lang="en-US" sz="2400" dirty="0" err="1">
                <a:latin typeface="Tahoma" pitchFamily="34" charset="0"/>
                <a:cs typeface="Times New Roman" pitchFamily="18" charset="0"/>
              </a:rPr>
              <a:t>int</a:t>
            </a:r>
            <a:r>
              <a:rPr lang="en-US" sz="2400" dirty="0">
                <a:latin typeface="Tahoma" pitchFamily="34" charset="0"/>
                <a:cs typeface="Times New Roman" pitchFamily="18" charset="0"/>
              </a:rPr>
              <a:t>, or signed </a:t>
            </a:r>
            <a:r>
              <a:rPr lang="en-US" sz="2400" dirty="0" err="1">
                <a:latin typeface="Tahoma" pitchFamily="34" charset="0"/>
                <a:cs typeface="Times New Roman" pitchFamily="18" charset="0"/>
              </a:rPr>
              <a:t>int</a:t>
            </a:r>
            <a:r>
              <a:rPr lang="en-US" dirty="0">
                <a:latin typeface="Tahoma" pitchFamily="34" charset="0"/>
                <a:cs typeface="Times New Roman" pitchFamily="18" charset="0"/>
              </a:rPr>
              <a:t> in 2’s complement representation?</a:t>
            </a:r>
            <a:endParaRPr lang="en-US" sz="2400" dirty="0">
              <a:latin typeface="Tahoma" pitchFamily="34" charset="0"/>
              <a:cs typeface="Times New Roman" pitchFamily="18" charset="0"/>
            </a:endParaRPr>
          </a:p>
          <a:p>
            <a:r>
              <a:rPr lang="en-US" sz="2400" dirty="0">
                <a:latin typeface="Tahoma" pitchFamily="34" charset="0"/>
                <a:cs typeface="Times New Roman" pitchFamily="18" charset="0"/>
              </a:rPr>
              <a:t>A: if unsigned </a:t>
            </a:r>
            <a:r>
              <a:rPr lang="en-US" sz="2400" dirty="0" err="1">
                <a:latin typeface="Tahoma" pitchFamily="34" charset="0"/>
                <a:cs typeface="Times New Roman" pitchFamily="18" charset="0"/>
              </a:rPr>
              <a:t>int</a:t>
            </a:r>
            <a:r>
              <a:rPr lang="en-US" sz="2400" dirty="0">
                <a:latin typeface="Tahoma" pitchFamily="34" charset="0"/>
                <a:cs typeface="Times New Roman" pitchFamily="18" charset="0"/>
              </a:rPr>
              <a:t>, then x=2^7+2^5+2^2+2^1+2^0=167</a:t>
            </a:r>
          </a:p>
          <a:p>
            <a:r>
              <a:rPr lang="en-US" sz="2400" dirty="0">
                <a:latin typeface="Tahoma" pitchFamily="34" charset="0"/>
                <a:cs typeface="Times New Roman" pitchFamily="18" charset="0"/>
              </a:rPr>
              <a:t>If signed </a:t>
            </a:r>
            <a:r>
              <a:rPr lang="en-US" sz="2400" dirty="0" err="1">
                <a:latin typeface="Tahoma" pitchFamily="34" charset="0"/>
                <a:cs typeface="Times New Roman" pitchFamily="18" charset="0"/>
              </a:rPr>
              <a:t>int</a:t>
            </a:r>
            <a:r>
              <a:rPr lang="en-US" sz="2400" dirty="0">
                <a:latin typeface="Tahoma" pitchFamily="34" charset="0"/>
                <a:cs typeface="Times New Roman" pitchFamily="18" charset="0"/>
              </a:rPr>
              <a:t>, then it is a negative number, since leftmost sign bit is 1. First </a:t>
            </a:r>
            <a:r>
              <a:rPr lang="en-US" altLang="zh-CN" sz="2400" dirty="0">
                <a:latin typeface="Tahoma" pitchFamily="34" charset="0"/>
                <a:cs typeface="Times New Roman" pitchFamily="18" charset="0"/>
              </a:rPr>
              <a:t>convert it into its positive counterpart of bitwise NOT plus one to get 01011001, which is equal to decimal </a:t>
            </a:r>
            <a:r>
              <a:rPr lang="en-US" sz="2400" dirty="0">
                <a:latin typeface="Tahoma" pitchFamily="34" charset="0"/>
                <a:cs typeface="Times New Roman" pitchFamily="18" charset="0"/>
              </a:rPr>
              <a:t>2^6+2^4+2^3+2^0=89. Hence x=-89</a:t>
            </a:r>
          </a:p>
          <a:p>
            <a:r>
              <a:rPr lang="en-US" dirty="0">
                <a:latin typeface="Tahoma" pitchFamily="34" charset="0"/>
                <a:cs typeface="Times New Roman" pitchFamily="18" charset="0"/>
              </a:rPr>
              <a:t>Similarly, for x=11100001 (unsigned int 225), first convert it into its positive counterpart of bitwise NOT plus one to get 00011111, which is equal to decimal 31. Hence x=-31</a:t>
            </a:r>
          </a:p>
          <a:p>
            <a:r>
              <a:rPr lang="en-US" dirty="0">
                <a:latin typeface="Tahoma" pitchFamily="34" charset="0"/>
                <a:cs typeface="Times New Roman" pitchFamily="18" charset="0"/>
              </a:rPr>
              <a:t>Similarly, for x=10000000 (unsigned int 128), first convert it into its positive counterpart of bitwise NOT plus one to get 10000000, which is equal to decimal 2^7. Hence x=-2^7=-128</a:t>
            </a:r>
          </a:p>
          <a:p>
            <a:endParaRPr lang="en-US" sz="2400" dirty="0">
              <a:latin typeface="Tahoma" pitchFamily="34" charset="0"/>
              <a:cs typeface="Times New Roman" pitchFamily="18" charset="0"/>
            </a:endParaRPr>
          </a:p>
          <a:p>
            <a:endParaRPr lang="en-US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E675A2F8-1917-E32A-1D6F-9612FFD6231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17508349"/>
              </p:ext>
            </p:extLst>
          </p:nvPr>
        </p:nvGraphicFramePr>
        <p:xfrm>
          <a:off x="4457700" y="4953000"/>
          <a:ext cx="3276600" cy="15849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524000">
                  <a:extLst>
                    <a:ext uri="{9D8B030D-6E8A-4147-A177-3AD203B41FA5}">
                      <a16:colId xmlns:a16="http://schemas.microsoft.com/office/drawing/2014/main" val="3282276112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582204835"/>
                    </a:ext>
                  </a:extLst>
                </a:gridCol>
                <a:gridCol w="838200">
                  <a:extLst>
                    <a:ext uri="{9D8B030D-6E8A-4147-A177-3AD203B41FA5}">
                      <a16:colId xmlns:a16="http://schemas.microsoft.com/office/drawing/2014/main" val="1902814463"/>
                    </a:ext>
                  </a:extLst>
                </a:gridCol>
              </a:tblGrid>
              <a:tr h="365441">
                <a:tc>
                  <a:txBody>
                    <a:bodyPr/>
                    <a:lstStyle/>
                    <a:p>
                      <a:pPr algn="ctr"/>
                      <a:endParaRPr lang="en-US" sz="2000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/>
                        <a:t>uint</a:t>
                      </a:r>
                      <a:endParaRPr lang="en-US" sz="2000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Int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4848456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3429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>
                          <a:latin typeface="Tahoma" pitchFamily="34" charset="0"/>
                          <a:cs typeface="Times New Roman" pitchFamily="18" charset="0"/>
                        </a:rPr>
                        <a:t>10100111</a:t>
                      </a:r>
                      <a:endParaRPr 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/>
                        <a:t>167</a:t>
                      </a:r>
                      <a:endParaRPr 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/>
                        <a:t>-89</a:t>
                      </a:r>
                      <a:endParaRPr lang="en-US" sz="2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8720722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3429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>
                          <a:latin typeface="Tahoma" pitchFamily="34" charset="0"/>
                          <a:cs typeface="Times New Roman" pitchFamily="18" charset="0"/>
                        </a:rPr>
                        <a:t>11100001</a:t>
                      </a:r>
                      <a:endParaRPr 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/>
                        <a:t>225</a:t>
                      </a:r>
                      <a:endParaRPr 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-31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2104658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3429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>
                          <a:latin typeface="Tahoma" pitchFamily="34" charset="0"/>
                          <a:cs typeface="Times New Roman" pitchFamily="18" charset="0"/>
                        </a:rPr>
                        <a:t>10000000</a:t>
                      </a:r>
                      <a:endParaRPr 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128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-128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8234471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133484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Question: Number Conversion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/>
              <a:t>Q: Which number is larger: 1001 or 0011 in binary?</a:t>
            </a:r>
          </a:p>
          <a:p>
            <a:r>
              <a:rPr lang="en-US" dirty="0"/>
              <a:t>Q: Which number is larger: 0xFFFFFFFF or 0x00000001 in hex?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3057932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Answer: Number Conversion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/>
              <a:t>Q: Which number is larger: 1001 or 0011 in binary?</a:t>
            </a:r>
          </a:p>
          <a:p>
            <a:r>
              <a:rPr lang="en-US" dirty="0"/>
              <a:t>A: depends on the number system. </a:t>
            </a:r>
          </a:p>
          <a:p>
            <a:pPr lvl="1"/>
            <a:r>
              <a:rPr lang="en-US" dirty="0"/>
              <a:t>If unsigned </a:t>
            </a:r>
            <a:r>
              <a:rPr lang="en-US" dirty="0" err="1"/>
              <a:t>int</a:t>
            </a:r>
            <a:r>
              <a:rPr lang="en-US" dirty="0"/>
              <a:t>, then 1001 is 9, and 0011 is 3 in decimal, and 9 &gt; 3</a:t>
            </a:r>
          </a:p>
          <a:p>
            <a:pPr lvl="1"/>
            <a:r>
              <a:rPr lang="en-US" dirty="0"/>
              <a:t>If signed int, then 1001 is -7 (negative of 0111), and 0011 is 3 in decimal, and -7 &lt; 3</a:t>
            </a:r>
          </a:p>
          <a:p>
            <a:r>
              <a:rPr lang="en-US" dirty="0"/>
              <a:t>Q: Which number is larger: 0xFFFFFFFF or 0x00000001 in hex?</a:t>
            </a:r>
          </a:p>
          <a:p>
            <a:r>
              <a:rPr lang="en-US" dirty="0"/>
              <a:t>Q: depends on the number system. </a:t>
            </a:r>
          </a:p>
          <a:p>
            <a:pPr lvl="1"/>
            <a:r>
              <a:rPr lang="en-US" dirty="0"/>
              <a:t>If unsigned </a:t>
            </a:r>
            <a:r>
              <a:rPr lang="en-US" dirty="0" err="1"/>
              <a:t>int</a:t>
            </a:r>
            <a:r>
              <a:rPr lang="en-US" dirty="0"/>
              <a:t>, then 0xFFFFFFFF is 2^32-1, and 0x00000001 is 1 in decimal, and 2^32-1 &gt; 1</a:t>
            </a:r>
          </a:p>
          <a:p>
            <a:pPr lvl="1"/>
            <a:r>
              <a:rPr lang="en-US" dirty="0"/>
              <a:t>If signed </a:t>
            </a:r>
            <a:r>
              <a:rPr lang="en-US" dirty="0" err="1"/>
              <a:t>int</a:t>
            </a:r>
            <a:r>
              <a:rPr lang="en-US" dirty="0"/>
              <a:t>, then 0xFFFFFFFF is -1 (negative of 0x00000001), and 0x00000001 is 1 in decimal, and -1 &lt; 1</a:t>
            </a:r>
          </a:p>
        </p:txBody>
      </p:sp>
    </p:spTree>
    <p:extLst>
      <p:ext uri="{BB962C8B-B14F-4D97-AF65-F5344CB8AC3E}">
        <p14:creationId xmlns:p14="http://schemas.microsoft.com/office/powerpoint/2010/main" val="322760585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Question: Number Range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Which range of decimals can be expressed with a 6-bit signed integer (assuming </a:t>
            </a:r>
            <a:r>
              <a:rPr lang="en-US" altLang="zh-CN" dirty="0"/>
              <a:t>Two</a:t>
            </a:r>
            <a:r>
              <a:rPr lang="en-US" dirty="0"/>
              <a:t>’s complement representation)? 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defTabSz="342900">
              <a:defRPr/>
            </a:pPr>
            <a:fld id="{69240954-B576-9D4D-A4A4-BAF4EBC7B2CF}" type="datetime1">
              <a:rPr lang="en-US" sz="900">
                <a:solidFill>
                  <a:prstClr val="black">
                    <a:tint val="75000"/>
                  </a:prstClr>
                </a:solidFill>
                <a:latin typeface="Calibri"/>
              </a:rPr>
              <a:pPr defTabSz="342900">
                <a:defRPr/>
              </a:pPr>
              <a:t>2/5/2026</a:t>
            </a:fld>
            <a:endParaRPr lang="en-US" sz="900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 defTabSz="342900">
              <a:defRPr/>
            </a:pPr>
            <a:fld id="{3CC63E4C-4642-794D-A2FD-70F6B81535F5}" type="slidenum">
              <a:rPr lang="en-US" sz="900">
                <a:solidFill>
                  <a:prstClr val="black">
                    <a:tint val="75000"/>
                  </a:prstClr>
                </a:solidFill>
                <a:latin typeface="Calibri"/>
              </a:rPr>
              <a:pPr algn="r" defTabSz="342900">
                <a:defRPr/>
              </a:pPr>
              <a:t>10</a:t>
            </a:fld>
            <a:endParaRPr lang="en-US" sz="900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3"/>
          </p:nvPr>
        </p:nvSpPr>
        <p:spPr>
          <a:xfrm>
            <a:off x="3124200" y="6356354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9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342900">
              <a:defRPr/>
            </a:pPr>
            <a:r>
              <a:rPr lang="en-US"/>
              <a:t>Fall </a:t>
            </a:r>
            <a:r>
              <a:rPr lang="is-IS"/>
              <a:t>2017</a:t>
            </a:r>
            <a:r>
              <a:rPr lang="en-US"/>
              <a:t> - Lecture #1</a:t>
            </a:r>
            <a:endParaRPr lang="en-US" sz="900" dirty="0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3707576" y="3107377"/>
          <a:ext cx="4572000" cy="2057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42900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Answer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Range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A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-32 … 32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B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-64 … 63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C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-31 … 32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D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-16 … 15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E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-32 … 31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8749177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Answer: Number Range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Which range of decimals can be expressed with a 6-bit signed integer (assuming </a:t>
            </a:r>
            <a:r>
              <a:rPr lang="en-US" altLang="zh-CN" dirty="0"/>
              <a:t>Two</a:t>
            </a:r>
            <a:r>
              <a:rPr lang="en-US" dirty="0"/>
              <a:t>’s complement representation)? 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defTabSz="342900">
              <a:defRPr/>
            </a:pPr>
            <a:fld id="{69240954-B576-9D4D-A4A4-BAF4EBC7B2CF}" type="datetime1">
              <a:rPr lang="en-US" sz="900">
                <a:solidFill>
                  <a:prstClr val="black">
                    <a:tint val="75000"/>
                  </a:prstClr>
                </a:solidFill>
                <a:latin typeface="Calibri"/>
              </a:rPr>
              <a:pPr defTabSz="342900">
                <a:defRPr/>
              </a:pPr>
              <a:t>2/5/2026</a:t>
            </a:fld>
            <a:endParaRPr lang="en-US" sz="900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 defTabSz="342900">
              <a:defRPr/>
            </a:pPr>
            <a:fld id="{3CC63E4C-4642-794D-A2FD-70F6B81535F5}" type="slidenum">
              <a:rPr lang="en-US" sz="900">
                <a:solidFill>
                  <a:prstClr val="black">
                    <a:tint val="75000"/>
                  </a:prstClr>
                </a:solidFill>
                <a:latin typeface="Calibri"/>
              </a:rPr>
              <a:pPr algn="r" defTabSz="342900">
                <a:defRPr/>
              </a:pPr>
              <a:t>11</a:t>
            </a:fld>
            <a:endParaRPr lang="en-US" sz="900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3"/>
          </p:nvPr>
        </p:nvSpPr>
        <p:spPr>
          <a:xfrm>
            <a:off x="3124200" y="6356354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9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342900">
              <a:defRPr/>
            </a:pPr>
            <a:r>
              <a:rPr lang="en-US"/>
              <a:t>Fall </a:t>
            </a:r>
            <a:r>
              <a:rPr lang="is-IS"/>
              <a:t>2017</a:t>
            </a:r>
            <a:r>
              <a:rPr lang="en-US"/>
              <a:t> - Lecture #1</a:t>
            </a:r>
            <a:endParaRPr lang="en-US" sz="900" dirty="0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3707576" y="3107377"/>
          <a:ext cx="4572000" cy="2057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42900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Answer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Range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A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-32 … 32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B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-64 … 63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C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-31 … 32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D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-16 … 15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E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-32 … 31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8" name="Rectangle 7"/>
          <p:cNvSpPr/>
          <p:nvPr/>
        </p:nvSpPr>
        <p:spPr>
          <a:xfrm>
            <a:off x="3707576" y="4820639"/>
            <a:ext cx="4572000" cy="344138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342900">
              <a:defRPr/>
            </a:pPr>
            <a:endParaRPr lang="en-US" sz="1350">
              <a:solidFill>
                <a:prstClr val="white"/>
              </a:solidFill>
              <a:latin typeface="Calibri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Rectangle 8"/>
              <p:cNvSpPr/>
              <p:nvPr/>
            </p:nvSpPr>
            <p:spPr>
              <a:xfrm>
                <a:off x="3276600" y="5348740"/>
                <a:ext cx="6324600" cy="518660"/>
              </a:xfrm>
              <a:prstGeom prst="rect">
                <a:avLst/>
              </a:prstGeom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lvl="0"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>
                              <a:latin typeface="Cambria Math"/>
                            </a:rPr>
                            <m:t>−</m:t>
                          </m:r>
                          <m:sSup>
                            <m:sSupPr>
                              <m:ctrlPr>
                                <a:rPr lang="en-US" sz="20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000">
                                  <a:latin typeface="Cambria Math"/>
                                </a:rPr>
                                <m:t>2</m:t>
                              </m:r>
                            </m:e>
                            <m:sup>
                              <m:r>
                                <a:rPr lang="en-US" sz="2000">
                                  <a:latin typeface="Cambria Math"/>
                                </a:rPr>
                                <m:t>𝑛</m:t>
                              </m:r>
                              <m:r>
                                <a:rPr lang="en-US" sz="2000">
                                  <a:latin typeface="Cambria Math"/>
                                </a:rPr>
                                <m:t>−1</m:t>
                              </m:r>
                            </m:sup>
                          </m:sSup>
                          <m:r>
                            <a:rPr lang="en-US" sz="2000">
                              <a:latin typeface="Cambria Math"/>
                            </a:rPr>
                            <m:t>, </m:t>
                          </m:r>
                          <m:sSup>
                            <m:sSupPr>
                              <m:ctrlPr>
                                <a:rPr lang="en-US" sz="20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000">
                                  <a:latin typeface="Cambria Math"/>
                                </a:rPr>
                                <m:t>2</m:t>
                              </m:r>
                            </m:e>
                            <m:sup>
                              <m:r>
                                <a:rPr lang="en-US" sz="2000">
                                  <a:latin typeface="Cambria Math"/>
                                </a:rPr>
                                <m:t>𝑛</m:t>
                              </m:r>
                              <m:r>
                                <a:rPr lang="en-US" sz="2000">
                                  <a:latin typeface="Cambria Math"/>
                                </a:rPr>
                                <m:t>−1</m:t>
                              </m:r>
                            </m:sup>
                          </m:sSup>
                          <m:r>
                            <a:rPr lang="en-US" sz="2000">
                              <a:latin typeface="Cambria Math"/>
                            </a:rPr>
                            <m:t>−1</m:t>
                          </m:r>
                        </m:e>
                      </m:d>
                      <m:r>
                        <a:rPr lang="en-US" sz="200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>
                              <a:latin typeface="Cambria Math"/>
                            </a:rPr>
                            <m:t>−</m:t>
                          </m:r>
                          <m:sSup>
                            <m:sSupPr>
                              <m:ctrlPr>
                                <a:rPr lang="en-US" sz="20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000">
                                  <a:latin typeface="Cambria Math"/>
                                </a:rPr>
                                <m:t>2</m:t>
                              </m:r>
                            </m:e>
                            <m:sup>
                              <m:r>
                                <a:rPr lang="en-US" sz="2000">
                                  <a:latin typeface="Cambria Math" panose="02040503050406030204" pitchFamily="18" charset="0"/>
                                </a:rPr>
                                <m:t>5</m:t>
                              </m:r>
                            </m:sup>
                          </m:sSup>
                          <m:r>
                            <a:rPr lang="en-US" sz="2000">
                              <a:latin typeface="Cambria Math"/>
                            </a:rPr>
                            <m:t>, </m:t>
                          </m:r>
                          <m:sSup>
                            <m:sSupPr>
                              <m:ctrlPr>
                                <a:rPr lang="en-US" sz="20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000">
                                  <a:latin typeface="Cambria Math"/>
                                </a:rPr>
                                <m:t>2</m:t>
                              </m:r>
                            </m:e>
                            <m:sup>
                              <m:r>
                                <a:rPr lang="en-US" sz="2000">
                                  <a:latin typeface="Cambria Math" panose="02040503050406030204" pitchFamily="18" charset="0"/>
                                </a:rPr>
                                <m:t>5</m:t>
                              </m:r>
                            </m:sup>
                          </m:sSup>
                          <m:r>
                            <a:rPr lang="en-US" sz="2000">
                              <a:latin typeface="Cambria Math"/>
                            </a:rPr>
                            <m:t>−1</m:t>
                          </m:r>
                        </m:e>
                      </m:d>
                      <m:r>
                        <a:rPr lang="en-US" sz="2000">
                          <a:latin typeface="Cambria Math" panose="02040503050406030204" pitchFamily="18" charset="0"/>
                        </a:rPr>
                        <m:t>=[−32,31]</m:t>
                      </m:r>
                    </m:oMath>
                  </m:oMathPara>
                </a14:m>
                <a:endParaRPr lang="en-US" sz="2000" baseline="-25000" dirty="0">
                  <a:solidFill>
                    <a:prstClr val="white"/>
                  </a:solidFill>
                  <a:latin typeface="Calibri"/>
                </a:endParaRPr>
              </a:p>
            </p:txBody>
          </p:sp>
        </mc:Choice>
        <mc:Fallback xmlns="">
          <p:sp>
            <p:nvSpPr>
              <p:cNvPr id="9" name="Rectangle 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76600" y="5348740"/>
                <a:ext cx="6324600" cy="51866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4952291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Question: Number Range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Which range of decimals can be expressed with a 6-bit </a:t>
            </a:r>
            <a:r>
              <a:rPr lang="en-US" altLang="zh-CN" dirty="0"/>
              <a:t>unsigned integer</a:t>
            </a:r>
            <a:r>
              <a:rPr lang="en-US" dirty="0"/>
              <a:t>?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defTabSz="342900">
              <a:defRPr/>
            </a:pPr>
            <a:fld id="{69240954-B576-9D4D-A4A4-BAF4EBC7B2CF}" type="datetime1">
              <a:rPr lang="en-US" sz="900">
                <a:solidFill>
                  <a:prstClr val="black">
                    <a:tint val="75000"/>
                  </a:prstClr>
                </a:solidFill>
                <a:latin typeface="Calibri"/>
              </a:rPr>
              <a:pPr defTabSz="342900">
                <a:defRPr/>
              </a:pPr>
              <a:t>2/5/2026</a:t>
            </a:fld>
            <a:endParaRPr lang="en-US" sz="900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 defTabSz="342900">
              <a:defRPr/>
            </a:pPr>
            <a:fld id="{3CC63E4C-4642-794D-A2FD-70F6B81535F5}" type="slidenum">
              <a:rPr lang="en-US" sz="900">
                <a:solidFill>
                  <a:prstClr val="black">
                    <a:tint val="75000"/>
                  </a:prstClr>
                </a:solidFill>
                <a:latin typeface="Calibri"/>
              </a:rPr>
              <a:pPr algn="r" defTabSz="342900">
                <a:defRPr/>
              </a:pPr>
              <a:t>12</a:t>
            </a:fld>
            <a:endParaRPr lang="en-US" sz="900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3"/>
          </p:nvPr>
        </p:nvSpPr>
        <p:spPr>
          <a:xfrm>
            <a:off x="3124200" y="6356354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9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342900">
              <a:defRPr/>
            </a:pPr>
            <a:r>
              <a:rPr lang="en-US"/>
              <a:t>Fall </a:t>
            </a:r>
            <a:r>
              <a:rPr lang="is-IS"/>
              <a:t>2017</a:t>
            </a:r>
            <a:r>
              <a:rPr lang="en-US"/>
              <a:t> - Lecture #1</a:t>
            </a:r>
            <a:endParaRPr lang="en-US" sz="900" dirty="0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DE5BA060-B117-DE6C-2E5D-AB4FD225142F}"/>
              </a:ext>
            </a:extLst>
          </p:cNvPr>
          <p:cNvGraphicFramePr>
            <a:graphicFrameLocks noGrp="1"/>
          </p:cNvGraphicFramePr>
          <p:nvPr/>
        </p:nvGraphicFramePr>
        <p:xfrm>
          <a:off x="3707576" y="3107377"/>
          <a:ext cx="4572000" cy="2057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42900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Answer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Range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A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-32 … 32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B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-64 … 63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C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-31 … 32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D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-16 … 15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E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   0 … 63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5920405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Answer: Number Range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Which range of decimals can be expressed with a 6-bit </a:t>
            </a:r>
            <a:r>
              <a:rPr lang="en-US" altLang="zh-CN" dirty="0"/>
              <a:t>unsigned integer</a:t>
            </a:r>
            <a:r>
              <a:rPr lang="en-US" dirty="0"/>
              <a:t>?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defTabSz="342900">
              <a:defRPr/>
            </a:pPr>
            <a:fld id="{69240954-B576-9D4D-A4A4-BAF4EBC7B2CF}" type="datetime1">
              <a:rPr lang="en-US" sz="900">
                <a:solidFill>
                  <a:prstClr val="black">
                    <a:tint val="75000"/>
                  </a:prstClr>
                </a:solidFill>
                <a:latin typeface="Calibri"/>
              </a:rPr>
              <a:pPr defTabSz="342900">
                <a:defRPr/>
              </a:pPr>
              <a:t>2/5/2026</a:t>
            </a:fld>
            <a:endParaRPr lang="en-US" sz="900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 defTabSz="342900">
              <a:defRPr/>
            </a:pPr>
            <a:fld id="{3CC63E4C-4642-794D-A2FD-70F6B81535F5}" type="slidenum">
              <a:rPr lang="en-US" sz="900">
                <a:solidFill>
                  <a:prstClr val="black">
                    <a:tint val="75000"/>
                  </a:prstClr>
                </a:solidFill>
                <a:latin typeface="Calibri"/>
              </a:rPr>
              <a:pPr algn="r" defTabSz="342900">
                <a:defRPr/>
              </a:pPr>
              <a:t>13</a:t>
            </a:fld>
            <a:endParaRPr lang="en-US" sz="900" dirty="0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3"/>
          </p:nvPr>
        </p:nvSpPr>
        <p:spPr>
          <a:xfrm>
            <a:off x="3124200" y="6356354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9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342900">
              <a:defRPr/>
            </a:pPr>
            <a:r>
              <a:rPr lang="en-US"/>
              <a:t>Fall </a:t>
            </a:r>
            <a:r>
              <a:rPr lang="is-IS"/>
              <a:t>2017</a:t>
            </a:r>
            <a:r>
              <a:rPr lang="en-US"/>
              <a:t> - Lecture #1</a:t>
            </a:r>
            <a:endParaRPr lang="en-US" sz="900" dirty="0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3707576" y="3107377"/>
          <a:ext cx="4572000" cy="2057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42900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Answer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Range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A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-32 … 32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B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-64 … 63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C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-31 … 32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D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-16 … 15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E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   0 … 63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8" name="Rectangle 7"/>
          <p:cNvSpPr/>
          <p:nvPr/>
        </p:nvSpPr>
        <p:spPr>
          <a:xfrm>
            <a:off x="3707576" y="4820639"/>
            <a:ext cx="4572000" cy="344138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342900">
              <a:defRPr/>
            </a:pPr>
            <a:endParaRPr lang="en-US" sz="1350">
              <a:solidFill>
                <a:prstClr val="white"/>
              </a:solidFill>
              <a:latin typeface="Calibri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Rectangle 8"/>
              <p:cNvSpPr/>
              <p:nvPr/>
            </p:nvSpPr>
            <p:spPr>
              <a:xfrm>
                <a:off x="3276600" y="5348740"/>
                <a:ext cx="6324600" cy="518660"/>
              </a:xfrm>
              <a:prstGeom prst="rect">
                <a:avLst/>
              </a:prstGeom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lvl="0"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>
                              <a:latin typeface="Cambria Math" panose="02040503050406030204" pitchFamily="18" charset="0"/>
                            </a:rPr>
                            <m:t>0, </m:t>
                          </m:r>
                          <m:sSup>
                            <m:sSupPr>
                              <m:ctrlPr>
                                <a:rPr lang="en-US" sz="20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000">
                                  <a:latin typeface="Cambria Math"/>
                                </a:rPr>
                                <m:t>2</m:t>
                              </m:r>
                            </m:e>
                            <m:sup>
                              <m:r>
                                <a:rPr lang="en-US" sz="2000">
                                  <a:latin typeface="Cambria Math"/>
                                </a:rPr>
                                <m:t>𝑛</m:t>
                              </m:r>
                            </m:sup>
                          </m:sSup>
                          <m:r>
                            <a:rPr lang="en-US" sz="2000">
                              <a:latin typeface="Cambria Math"/>
                            </a:rPr>
                            <m:t>−1</m:t>
                          </m:r>
                        </m:e>
                      </m:d>
                      <m:r>
                        <a:rPr lang="en-US" sz="200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0</m:t>
                          </m:r>
                          <m:r>
                            <a:rPr lang="en-US" sz="2000">
                              <a:latin typeface="Cambria Math"/>
                            </a:rPr>
                            <m:t>, </m:t>
                          </m:r>
                          <m:sSup>
                            <m:sSupPr>
                              <m:ctrlPr>
                                <a:rPr lang="en-US" sz="20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000">
                                  <a:latin typeface="Cambria Math"/>
                                </a:rPr>
                                <m:t>2</m:t>
                              </m:r>
                            </m:e>
                            <m:sup>
                              <m:r>
                                <a:rPr lang="en-US" sz="2000">
                                  <a:latin typeface="Cambria Math" panose="02040503050406030204" pitchFamily="18" charset="0"/>
                                </a:rPr>
                                <m:t>6</m:t>
                              </m:r>
                            </m:sup>
                          </m:sSup>
                          <m:r>
                            <a:rPr lang="en-US" sz="2000">
                              <a:latin typeface="Cambria Math"/>
                            </a:rPr>
                            <m:t>−1</m:t>
                          </m:r>
                        </m:e>
                      </m:d>
                      <m:r>
                        <a:rPr lang="en-US" sz="2000">
                          <a:latin typeface="Cambria Math" panose="02040503050406030204" pitchFamily="18" charset="0"/>
                        </a:rPr>
                        <m:t>=[0,63]</m:t>
                      </m:r>
                    </m:oMath>
                  </m:oMathPara>
                </a14:m>
                <a:endParaRPr lang="en-US" sz="2000" baseline="-25000" dirty="0">
                  <a:solidFill>
                    <a:prstClr val="white"/>
                  </a:solidFill>
                  <a:latin typeface="Calibri"/>
                </a:endParaRPr>
              </a:p>
            </p:txBody>
          </p:sp>
        </mc:Choice>
        <mc:Fallback xmlns="">
          <p:sp>
            <p:nvSpPr>
              <p:cNvPr id="9" name="Rectangle 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76600" y="5348740"/>
                <a:ext cx="6324600" cy="51866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6371256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Question: Integer arithmetic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/>
              <a:t>Q: What is the result of 1001 + 0011?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927237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Answer: Integer arithmetic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/>
              <a:t>Q: Consider a 4-bit system. What is the result of 1001 + 0011?</a:t>
            </a:r>
          </a:p>
          <a:p>
            <a:r>
              <a:rPr lang="en-US" dirty="0"/>
              <a:t>A: 1001 + 0011 = 1100</a:t>
            </a:r>
          </a:p>
          <a:p>
            <a:r>
              <a:rPr lang="en-US" dirty="0"/>
              <a:t>Value of 1100 depends on the number system. </a:t>
            </a:r>
          </a:p>
          <a:p>
            <a:pPr lvl="1"/>
            <a:r>
              <a:rPr lang="en-US" dirty="0"/>
              <a:t>If unsigned </a:t>
            </a:r>
            <a:r>
              <a:rPr lang="en-US" dirty="0" err="1"/>
              <a:t>int</a:t>
            </a:r>
            <a:r>
              <a:rPr lang="en-US" dirty="0"/>
              <a:t>, then 1100 is 12, which is equal to 9 (1001) + 3 (0011)</a:t>
            </a:r>
          </a:p>
          <a:p>
            <a:pPr lvl="1"/>
            <a:r>
              <a:rPr lang="en-US" dirty="0"/>
              <a:t>If signed </a:t>
            </a:r>
            <a:r>
              <a:rPr lang="en-US" dirty="0" err="1"/>
              <a:t>int</a:t>
            </a:r>
            <a:r>
              <a:rPr lang="en-US" dirty="0"/>
              <a:t>, then 1100 is -4 (negative of 0100), which is equal to -7 (1001) + 3 (0011) in decimal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428019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Question: Addition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16</a:t>
            </a:fld>
            <a:endParaRPr kumimoji="0"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/>
              <a:t>Q: Consider a 4-bit system. What is the result of addition  1011+0110, assuming either unsigned integers, or signed integers</a:t>
            </a:r>
            <a:r>
              <a:rPr lang="en-US" altLang="zh-CN" dirty="0"/>
              <a:t> </a:t>
            </a:r>
            <a:r>
              <a:rPr lang="en-US" dirty="0"/>
              <a:t>in 2’s-complement representation</a:t>
            </a:r>
            <a:r>
              <a:rPr lang="zh-CN" altLang="en-US" dirty="0"/>
              <a:t>？</a:t>
            </a:r>
            <a:endParaRPr lang="en-US" altLang="zh-CN" dirty="0"/>
          </a:p>
          <a:p>
            <a:r>
              <a:rPr lang="en-US" dirty="0"/>
              <a:t>0001</a:t>
            </a:r>
          </a:p>
        </p:txBody>
      </p:sp>
    </p:spTree>
    <p:extLst>
      <p:ext uri="{BB962C8B-B14F-4D97-AF65-F5344CB8AC3E}">
        <p14:creationId xmlns:p14="http://schemas.microsoft.com/office/powerpoint/2010/main" val="346906222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Answer: Addition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17</a:t>
            </a:fld>
            <a:endParaRPr kumimoji="0"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/>
        <p:txBody>
          <a:bodyPr>
            <a:normAutofit fontScale="92500"/>
          </a:bodyPr>
          <a:lstStyle/>
          <a:p>
            <a:r>
              <a:rPr lang="en-US" dirty="0"/>
              <a:t>Q: Consider a 4-bit system. What is the result of addition  1011+0110, assuming either unsigned integers, or signed integers</a:t>
            </a:r>
            <a:r>
              <a:rPr lang="en-US" altLang="zh-CN" dirty="0"/>
              <a:t> </a:t>
            </a:r>
            <a:r>
              <a:rPr lang="en-US" dirty="0"/>
              <a:t>in 2’s-complement representation</a:t>
            </a:r>
            <a:r>
              <a:rPr lang="zh-CN" altLang="en-US" dirty="0"/>
              <a:t>？</a:t>
            </a:r>
            <a:endParaRPr lang="en-US" dirty="0"/>
          </a:p>
          <a:p>
            <a:endParaRPr lang="en-US" altLang="zh-CN" dirty="0"/>
          </a:p>
          <a:p>
            <a:r>
              <a:rPr lang="en-US" altLang="zh-CN" dirty="0"/>
              <a:t>A:  </a:t>
            </a:r>
            <a:r>
              <a:rPr lang="en-US" dirty="0"/>
              <a:t>1011+0110 = 10001; the extra leftmost bit is discarded, so the result is 0001 (1 in decimal) for both cases. </a:t>
            </a:r>
          </a:p>
          <a:p>
            <a:r>
              <a:rPr lang="en-US" altLang="zh-CN" dirty="0"/>
              <a:t>1011 is 11 in decimal as unsigned int; -5 in decimal as signed int; 0110 is 6 as either unsigned or signed int. A 4-bit unsigned int has the range [0,2</a:t>
            </a:r>
            <a:r>
              <a:rPr lang="en-US" altLang="zh-CN" baseline="30000" dirty="0"/>
              <a:t>4</a:t>
            </a:r>
            <a:r>
              <a:rPr lang="en-US" altLang="zh-CN" dirty="0"/>
              <a:t>-1]=[0, 15]; a 4-bit signed int has the range [-2</a:t>
            </a:r>
            <a:r>
              <a:rPr lang="en-US" altLang="zh-CN" baseline="30000" dirty="0"/>
              <a:t>3</a:t>
            </a:r>
            <a:r>
              <a:rPr lang="en-US" altLang="zh-CN" dirty="0"/>
              <a:t>, 2</a:t>
            </a:r>
            <a:r>
              <a:rPr lang="en-US" altLang="zh-CN" baseline="30000" dirty="0"/>
              <a:t>3</a:t>
            </a:r>
            <a:r>
              <a:rPr lang="en-US" altLang="zh-CN" dirty="0"/>
              <a:t>-1]=[-8, 7]</a:t>
            </a:r>
          </a:p>
          <a:p>
            <a:r>
              <a:rPr lang="en-US" altLang="zh-CN" dirty="0"/>
              <a:t>For unsigned addition, true result should be 11+6=17 in decimal. Since 17&gt;15, the result is wrong, and </a:t>
            </a:r>
            <a:r>
              <a:rPr lang="en-US" dirty="0"/>
              <a:t>Carry flag is set to 1.</a:t>
            </a:r>
          </a:p>
          <a:p>
            <a:r>
              <a:rPr lang="en-US" altLang="zh-CN" dirty="0"/>
              <a:t>For signed addition, true result should be -5+6=1 in decimal. So the result is correct.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1174156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Question: Subtraction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18</a:t>
            </a:fld>
            <a:endParaRPr kumimoji="0"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/>
              <a:t>Q: Q: Consider a 4-bit system. What is the result of subtraction 1011-0110, assuming either unsigned integers, or signed integers</a:t>
            </a:r>
            <a:r>
              <a:rPr lang="en-US" altLang="zh-CN" dirty="0"/>
              <a:t> </a:t>
            </a:r>
            <a:r>
              <a:rPr lang="en-US" dirty="0"/>
              <a:t>in 2’s-complement representation</a:t>
            </a:r>
            <a:r>
              <a:rPr lang="zh-CN" altLang="en-US" dirty="0"/>
              <a:t>？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5929591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Answer: Subtraction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19</a:t>
            </a:fld>
            <a:endParaRPr kumimoji="0"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Q: Consider a 4-bit system. What is the result of subtraction 1011-0110, assuming either unsigned integers, or signed integers</a:t>
            </a:r>
            <a:r>
              <a:rPr lang="en-US" altLang="zh-CN" dirty="0"/>
              <a:t> </a:t>
            </a:r>
            <a:r>
              <a:rPr lang="en-US" dirty="0"/>
              <a:t>in 2’s-complement representation</a:t>
            </a:r>
            <a:r>
              <a:rPr lang="zh-CN" altLang="en-US" dirty="0"/>
              <a:t>？</a:t>
            </a:r>
            <a:endParaRPr lang="en-US" altLang="zh-CN" dirty="0"/>
          </a:p>
          <a:p>
            <a:endParaRPr lang="en-US" dirty="0"/>
          </a:p>
          <a:p>
            <a:r>
              <a:rPr lang="en-US" altLang="zh-CN" dirty="0"/>
              <a:t>A: </a:t>
            </a:r>
            <a:r>
              <a:rPr lang="en-US" dirty="0"/>
              <a:t>1011-0110 = 0101 (carry bit discarded), so the computed result is 0101 (5 in decimal) for both cases. </a:t>
            </a:r>
          </a:p>
          <a:p>
            <a:r>
              <a:rPr lang="en-US" altLang="zh-CN" dirty="0"/>
              <a:t>For unsigned subtraction, true result should be 11-6=5 in decimal. So the result is correct</a:t>
            </a:r>
          </a:p>
          <a:p>
            <a:r>
              <a:rPr lang="en-US" altLang="zh-CN" dirty="0"/>
              <a:t>For signed subtraction, true result should be -5-6=-11. Since -11 &lt; -8, the result of 5 is wrong, and </a:t>
            </a:r>
            <a:r>
              <a:rPr lang="en-US" dirty="0"/>
              <a:t>Overflow flag is set to 1.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1187147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Question: Subtraction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20</a:t>
            </a:fld>
            <a:endParaRPr kumimoji="0"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/>
              <a:t>Q: Consider a 4-bit system. What is the result of subtraction 0110</a:t>
            </a:r>
            <a:r>
              <a:rPr lang="en-US" altLang="zh-CN" dirty="0"/>
              <a:t>-</a:t>
            </a:r>
            <a:r>
              <a:rPr lang="en-US" dirty="0"/>
              <a:t>1011, assuming either unsigned integers, or signed integers</a:t>
            </a:r>
            <a:r>
              <a:rPr lang="en-US" altLang="zh-CN" dirty="0"/>
              <a:t> </a:t>
            </a:r>
            <a:r>
              <a:rPr lang="en-US" dirty="0"/>
              <a:t>in 2’s-complement representation</a:t>
            </a:r>
            <a:r>
              <a:rPr lang="zh-CN" altLang="en-US" dirty="0"/>
              <a:t>？</a:t>
            </a: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339004810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Answer: Subtraction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21</a:t>
            </a:fld>
            <a:endParaRPr kumimoji="0"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Q: Consider a 4-bit system. What is the result of subtraction 0110</a:t>
            </a:r>
            <a:r>
              <a:rPr lang="en-US" altLang="zh-CN" dirty="0"/>
              <a:t>-</a:t>
            </a:r>
            <a:r>
              <a:rPr lang="en-US" dirty="0"/>
              <a:t>1011, assuming either unsigned integers, or signed integers</a:t>
            </a:r>
            <a:r>
              <a:rPr lang="en-US" altLang="zh-CN" dirty="0"/>
              <a:t> </a:t>
            </a:r>
            <a:r>
              <a:rPr lang="en-US" dirty="0"/>
              <a:t>in 2’s-complement representation</a:t>
            </a:r>
            <a:r>
              <a:rPr lang="zh-CN" altLang="en-US" dirty="0"/>
              <a:t>？</a:t>
            </a:r>
            <a:endParaRPr lang="en-US" altLang="zh-CN" dirty="0"/>
          </a:p>
          <a:p>
            <a:endParaRPr lang="en-US" dirty="0"/>
          </a:p>
          <a:p>
            <a:r>
              <a:rPr lang="en-US" altLang="zh-CN" dirty="0"/>
              <a:t>A: </a:t>
            </a:r>
            <a:r>
              <a:rPr lang="en-US" dirty="0"/>
              <a:t>0110</a:t>
            </a:r>
            <a:r>
              <a:rPr lang="en-US" altLang="zh-CN" dirty="0"/>
              <a:t>-</a:t>
            </a:r>
            <a:r>
              <a:rPr lang="en-US" dirty="0"/>
              <a:t>1011 = 1011 (borrow bit discarded), so the computed result is 11 in decimal for unsigned, or </a:t>
            </a:r>
            <a:r>
              <a:rPr lang="en-US" altLang="zh-CN" dirty="0"/>
              <a:t>-</a:t>
            </a:r>
            <a:r>
              <a:rPr lang="en-US" dirty="0"/>
              <a:t>5 in decimal for </a:t>
            </a:r>
            <a:r>
              <a:rPr lang="en-US" altLang="zh-CN" dirty="0"/>
              <a:t>signed</a:t>
            </a:r>
            <a:r>
              <a:rPr lang="en-US" dirty="0"/>
              <a:t>. </a:t>
            </a:r>
          </a:p>
          <a:p>
            <a:r>
              <a:rPr lang="en-US" altLang="zh-CN" dirty="0"/>
              <a:t>For unsigned subtraction, true result should be 6-11=-5 in decimal. Since -5 &lt; 0, the result is wrong, and Carry flag is 0 (Borrow flag is 1).</a:t>
            </a:r>
          </a:p>
          <a:p>
            <a:r>
              <a:rPr lang="en-US" altLang="zh-CN" dirty="0"/>
              <a:t>For signed subtraction, true result should be 6-(-5)</a:t>
            </a:r>
            <a:r>
              <a:rPr lang="zh-CN" altLang="en-US" dirty="0"/>
              <a:t> </a:t>
            </a:r>
            <a:r>
              <a:rPr lang="en-US" altLang="zh-CN" dirty="0"/>
              <a:t>=11. Since 11 &gt; 7, the result is wrong, and </a:t>
            </a:r>
            <a:r>
              <a:rPr lang="en-US" dirty="0"/>
              <a:t>Overflow flag is set to 1.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3292045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Question: True or False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22</a:t>
            </a:fld>
            <a:endParaRPr kumimoji="0"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1. Overflow is impossible when subtracting one unsigned number from another.</a:t>
            </a:r>
          </a:p>
          <a:p>
            <a:r>
              <a:rPr lang="en-US" dirty="0"/>
              <a:t>2. Overflow is impossible when subtracting two signed operands of the same sign.</a:t>
            </a:r>
          </a:p>
          <a:p>
            <a:r>
              <a:rPr lang="en-US" dirty="0"/>
              <a:t>3. There are two representations of zero in 2’s complement representation.</a:t>
            </a:r>
          </a:p>
          <a:p>
            <a:r>
              <a:rPr lang="en-US" dirty="0"/>
              <a:t>4. In 2’s complement, the absolute values of full-scale negative and full-scale positive are identical</a:t>
            </a:r>
          </a:p>
        </p:txBody>
      </p:sp>
    </p:spTree>
    <p:extLst>
      <p:ext uri="{BB962C8B-B14F-4D97-AF65-F5344CB8AC3E}">
        <p14:creationId xmlns:p14="http://schemas.microsoft.com/office/powerpoint/2010/main" val="370720965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Answer: True or False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23</a:t>
            </a:fld>
            <a:endParaRPr kumimoji="0"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1. Borrow=1 is impossible when subtracting one unsigned number from another. </a:t>
            </a:r>
            <a:r>
              <a:rPr lang="en-US" dirty="0">
                <a:solidFill>
                  <a:srgbClr val="FF0000"/>
                </a:solidFill>
              </a:rPr>
              <a:t>False</a:t>
            </a:r>
          </a:p>
          <a:p>
            <a:r>
              <a:rPr lang="en-US" dirty="0"/>
              <a:t>2. Overflow=1 is impossible when subtracting two signed operands of the same sign.  </a:t>
            </a:r>
            <a:r>
              <a:rPr lang="en-US" dirty="0">
                <a:solidFill>
                  <a:srgbClr val="FF0000"/>
                </a:solidFill>
              </a:rPr>
              <a:t>True</a:t>
            </a:r>
          </a:p>
          <a:p>
            <a:r>
              <a:rPr lang="en-US" dirty="0"/>
              <a:t>3. There are two representations of zero in 2’s complement representation. </a:t>
            </a:r>
            <a:r>
              <a:rPr lang="en-US" dirty="0">
                <a:solidFill>
                  <a:srgbClr val="FF0000"/>
                </a:solidFill>
              </a:rPr>
              <a:t>False</a:t>
            </a:r>
          </a:p>
          <a:p>
            <a:r>
              <a:rPr lang="en-US" dirty="0"/>
              <a:t>4. In 2’s complement, the absolute values of smallest negative and </a:t>
            </a:r>
            <a:r>
              <a:rPr lang="en-US" altLang="zh-CN" dirty="0"/>
              <a:t>largest</a:t>
            </a:r>
            <a:r>
              <a:rPr lang="en-US" dirty="0"/>
              <a:t> positive numbers are identical. </a:t>
            </a:r>
            <a:r>
              <a:rPr lang="en-US" dirty="0">
                <a:solidFill>
                  <a:srgbClr val="FF0000"/>
                </a:solidFill>
              </a:rPr>
              <a:t>False. </a:t>
            </a:r>
            <a:r>
              <a:rPr lang="en-US" dirty="0"/>
              <a:t>e.g., </a:t>
            </a:r>
            <a:r>
              <a:rPr lang="en-US" altLang="zh-CN" dirty="0"/>
              <a:t>[-8, 7] for a 4-bit system</a:t>
            </a:r>
            <a:endParaRPr 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34379896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Origin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rigin">
      <a:majorFont>
        <a:latin typeface="Bookman Old Style"/>
        <a:ea typeface=""/>
        <a:cs typeface=""/>
        <a:font script="Grek" typeface="Cambria"/>
        <a:font script="Cyrl" typeface="Cambria"/>
        <a:font script="Jpan" typeface="HG明朝E"/>
        <a:font script="Hang" typeface="돋움"/>
        <a:font script="Hans" typeface="宋体"/>
        <a:font script="Hant" typeface="標楷體"/>
        <a:font script="Arab" typeface="Times New Roman"/>
        <a:font script="Hebr" typeface="Times New Roman"/>
        <a:font script="Thai" typeface="Browall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Gill Sans MT"/>
        <a:ea typeface=""/>
        <a:cs typeface=""/>
        <a:font script="Grek" typeface="Calibri"/>
        <a:font script="Cyrl" typeface="Calibri"/>
        <a:font script="Jpan" typeface="ＭＳ Ｐゴシック"/>
        <a:font script="Hang" typeface="맑은 고딕"/>
        <a:font script="Hans" typeface="华文新魏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rigin">
      <a:fillStyleLst>
        <a:solidFill>
          <a:schemeClr val="phClr"/>
        </a:solidFill>
        <a:gradFill rotWithShape="1">
          <a:gsLst>
            <a:gs pos="0">
              <a:schemeClr val="phClr">
                <a:tint val="45000"/>
                <a:satMod val="200000"/>
              </a:schemeClr>
            </a:gs>
            <a:gs pos="30000">
              <a:schemeClr val="phClr">
                <a:tint val="61000"/>
                <a:satMod val="200000"/>
              </a:schemeClr>
            </a:gs>
            <a:gs pos="45000">
              <a:schemeClr val="phClr">
                <a:tint val="66000"/>
                <a:satMod val="200000"/>
              </a:schemeClr>
            </a:gs>
            <a:gs pos="55000">
              <a:schemeClr val="phClr">
                <a:tint val="66000"/>
                <a:satMod val="200000"/>
              </a:schemeClr>
            </a:gs>
            <a:gs pos="73000">
              <a:schemeClr val="phClr">
                <a:tint val="61000"/>
                <a:satMod val="200000"/>
              </a:schemeClr>
            </a:gs>
            <a:gs pos="100000">
              <a:schemeClr val="phClr">
                <a:tint val="45000"/>
                <a:satMod val="200000"/>
              </a:schemeClr>
            </a:gs>
          </a:gsLst>
          <a:lin ang="950000" scaled="1"/>
        </a:gradFill>
        <a:gradFill rotWithShape="1">
          <a:gsLst>
            <a:gs pos="0">
              <a:schemeClr val="phClr">
                <a:shade val="63000"/>
              </a:schemeClr>
            </a:gs>
            <a:gs pos="30000">
              <a:schemeClr val="phClr">
                <a:shade val="90000"/>
                <a:satMod val="110000"/>
              </a:schemeClr>
            </a:gs>
            <a:gs pos="45000">
              <a:schemeClr val="phClr">
                <a:shade val="100000"/>
                <a:satMod val="118000"/>
              </a:schemeClr>
            </a:gs>
            <a:gs pos="55000">
              <a:schemeClr val="phClr">
                <a:shade val="100000"/>
                <a:satMod val="118000"/>
              </a:schemeClr>
            </a:gs>
            <a:gs pos="73000">
              <a:schemeClr val="phClr">
                <a:shade val="90000"/>
                <a:satMod val="110000"/>
              </a:schemeClr>
            </a:gs>
            <a:gs pos="100000">
              <a:schemeClr val="phClr">
                <a:shade val="63000"/>
              </a:schemeClr>
            </a:gs>
          </a:gsLst>
          <a:lin ang="950000" scaled="1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5400" dir="5400000" rotWithShape="0">
              <a:srgbClr val="000000">
                <a:alpha val="40000"/>
              </a:srgbClr>
            </a:outerShdw>
          </a:effectLst>
        </a:effectStyle>
        <a:effectStyle>
          <a:effectLst>
            <a:outerShdw blurRad="50800" dist="43000" dir="5400000" rotWithShape="0">
              <a:srgbClr val="000000">
                <a:alpha val="40000"/>
              </a:srgbClr>
            </a:outerShdw>
          </a:effectLst>
          <a:scene3d>
            <a:camera prst="orthographicFront" fov="0">
              <a:rot lat="0" lon="0" rev="0"/>
            </a:camera>
            <a:lightRig rig="balanced" dir="t">
              <a:rot lat="0" lon="0" rev="0"/>
            </a:lightRig>
          </a:scene3d>
          <a:sp3d prstMaterial="matte">
            <a:bevelT w="0" h="0"/>
            <a:contourClr>
              <a:schemeClr val="phClr">
                <a:tint val="100000"/>
                <a:shade val="100000"/>
                <a:hueMod val="100000"/>
                <a:satMod val="100000"/>
              </a:schemeClr>
            </a:contourClr>
          </a:sp3d>
        </a:effectStyle>
        <a:effectStyle>
          <a:effectLst>
            <a:outerShdw blurRad="50800" dist="25400" dir="5400000" rotWithShape="0">
              <a:srgbClr val="000000">
                <a:alpha val="50000"/>
              </a:srgbClr>
            </a:outerShdw>
          </a:effectLst>
          <a:scene3d>
            <a:camera prst="orthographicFront" fov="0">
              <a:rot lat="0" lon="0" rev="0"/>
            </a:camera>
            <a:lightRig rig="soft" dir="t">
              <a:rot lat="0" lon="0" rev="2700000"/>
            </a:lightRig>
          </a:scene3d>
          <a:sp3d prstMaterial="matte">
            <a:bevelT w="50800" h="50800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60000"/>
                <a:satMod val="300000"/>
              </a:schemeClr>
            </a:gs>
            <a:gs pos="30000">
              <a:schemeClr val="phClr">
                <a:shade val="80000"/>
                <a:satMod val="230000"/>
              </a:schemeClr>
            </a:gs>
            <a:gs pos="100000">
              <a:schemeClr val="phClr">
                <a:tint val="97000"/>
                <a:satMod val="220000"/>
              </a:schemeClr>
            </a:gs>
          </a:gsLst>
          <a:lin ang="16200000" scaled="1"/>
        </a:gradFill>
        <a:blipFill>
          <a:blip xmlns:r="http://schemas.openxmlformats.org/officeDocument/2006/relationships" r:embed="rId1">
            <a:duotone>
              <a:schemeClr val="phClr">
                <a:shade val="6000"/>
                <a:satMod val="120000"/>
              </a:schemeClr>
              <a:schemeClr val="phClr">
                <a:tint val="90000"/>
              </a:schemeClr>
            </a:duotone>
          </a:blip>
          <a:tile tx="0" ty="0" sx="35000" sy="40000" flip="x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3116</TotalTime>
  <Words>1604</Words>
  <Application>Microsoft Office PowerPoint</Application>
  <PresentationFormat>Widescreen</PresentationFormat>
  <Paragraphs>194</Paragraphs>
  <Slides>23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10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34" baseType="lpstr">
      <vt:lpstr>Bookman Old Style (Headings)</vt:lpstr>
      <vt:lpstr>Arial</vt:lpstr>
      <vt:lpstr>Bookman Old Style</vt:lpstr>
      <vt:lpstr>Calibri</vt:lpstr>
      <vt:lpstr>Cambria Math</vt:lpstr>
      <vt:lpstr>Consolas</vt:lpstr>
      <vt:lpstr>Gill Sans MT</vt:lpstr>
      <vt:lpstr>Tahoma</vt:lpstr>
      <vt:lpstr>Wingdings</vt:lpstr>
      <vt:lpstr>Wingdings 3</vt:lpstr>
      <vt:lpstr>Origin</vt:lpstr>
      <vt:lpstr>Z. Gu Hofstra University</vt:lpstr>
      <vt:lpstr>Question: Number Conversion</vt:lpstr>
      <vt:lpstr>Answer: Number Conversion</vt:lpstr>
      <vt:lpstr>Question: 2’s Complement</vt:lpstr>
      <vt:lpstr>Answer: 2’s Complement</vt:lpstr>
      <vt:lpstr>Question: Number Conversion</vt:lpstr>
      <vt:lpstr>Answer: Number Conversion</vt:lpstr>
      <vt:lpstr>Question: Number Conversion</vt:lpstr>
      <vt:lpstr>Answer: Number Conversion</vt:lpstr>
      <vt:lpstr>Question: Number Range</vt:lpstr>
      <vt:lpstr>Answer: Number Range</vt:lpstr>
      <vt:lpstr>Question: Number Range</vt:lpstr>
      <vt:lpstr>Answer: Number Range</vt:lpstr>
      <vt:lpstr>Question: Integer arithmetic</vt:lpstr>
      <vt:lpstr>Answer: Integer arithmetic</vt:lpstr>
      <vt:lpstr>Question: Addition</vt:lpstr>
      <vt:lpstr>Answer: Addition</vt:lpstr>
      <vt:lpstr>Question: Subtraction</vt:lpstr>
      <vt:lpstr>Answer: Subtraction</vt:lpstr>
      <vt:lpstr>Question: Subtraction</vt:lpstr>
      <vt:lpstr>Answer: Subtraction</vt:lpstr>
      <vt:lpstr>Question: True or False</vt:lpstr>
      <vt:lpstr>Answer: True or False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Dr. Yifeng Zhu Electrical and Computer Engineering University of Maine</dc:title>
  <dc:creator>zhu</dc:creator>
  <cp:lastModifiedBy>Zonghua Gu</cp:lastModifiedBy>
  <cp:revision>322</cp:revision>
  <dcterms:created xsi:type="dcterms:W3CDTF">2013-02-03T05:36:57Z</dcterms:created>
  <dcterms:modified xsi:type="dcterms:W3CDTF">2026-02-05T18:27:42Z</dcterms:modified>
</cp:coreProperties>
</file>